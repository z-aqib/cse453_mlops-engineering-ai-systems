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hTMVnmVKFasUFYAf5/nvJnbh0L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80c4de02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80c4de0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e8689544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e868954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80c4de029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80c4de02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e8689544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e868954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e86895446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e868954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e86895446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e8689544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e8689544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e8689544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80c4de02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80c4de0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86895446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868954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e86895446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e868954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80c4de029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80c4de0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e86895446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e8689544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86895446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8689544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86895446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e8689544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e86895446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e8689544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e86895446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e8689544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80c4de029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80c4de02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e86895446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e8689544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e86895446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e8689544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e86895446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e8689544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e86895446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e8689544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e86895446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8e8689544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e8689544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8e86895446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e8689544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e868954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Relationship Id="rId5" Type="http://schemas.openxmlformats.org/officeDocument/2006/relationships/image" Target="../media/image41.png"/><Relationship Id="rId6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Platform Services for MLOps &amp; LLMOps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AWS • Microsoft Azure • Google Cloud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80c4de029_0_0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</a:t>
            </a:r>
            <a:endParaRPr/>
          </a:p>
        </p:txBody>
      </p:sp>
      <p:sp>
        <p:nvSpPr>
          <p:cNvPr id="91" name="Google Shape;91;g3880c4de029_0_0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g3880c4de02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8675" y="1009000"/>
            <a:ext cx="5180875" cy="29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e86895446_0_10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PaaS</a:t>
            </a:r>
            <a:endParaRPr/>
          </a:p>
        </p:txBody>
      </p:sp>
      <p:sp>
        <p:nvSpPr>
          <p:cNvPr id="98" name="Google Shape;98;g38e86895446_0_10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g38e86895446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350" y="1250975"/>
            <a:ext cx="2704755" cy="260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8e86895446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897" y="443200"/>
            <a:ext cx="4669016" cy="396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80c4de029_0_1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Containers and Serverless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Faas?</a:t>
            </a:r>
            <a:endParaRPr/>
          </a:p>
        </p:txBody>
      </p:sp>
      <p:sp>
        <p:nvSpPr>
          <p:cNvPr id="106" name="Google Shape;106;g3880c4de029_0_1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D print printer icon vector. Isolated contour symbol illustration (Provided by Getty Images)" id="107" name="Google Shape;107;g3880c4de02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375" y="1129850"/>
            <a:ext cx="2601912" cy="260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880c4de029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7300" y="1208250"/>
            <a:ext cx="4451126" cy="292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e86895446_0_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e86895446_0_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g38e86895446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250" y="701675"/>
            <a:ext cx="8441051" cy="48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e86895446_0_2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8e86895446_0_2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g38e86895446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875" y="1024800"/>
            <a:ext cx="6315949" cy="50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e86895446_0_2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8e86895446_0_2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g38e86895446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50" y="1089425"/>
            <a:ext cx="9926649" cy="41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e86895446_0_3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e86895446_0_3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g38e86895446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75" y="1119625"/>
            <a:ext cx="7953249" cy="377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80c4de029_0_6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80c4de029_0_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g3880c4de02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75" y="1014250"/>
            <a:ext cx="8515999" cy="482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e86895446_0_5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e86895446_0_5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g38e86895446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25" y="1170200"/>
            <a:ext cx="8365274" cy="38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e86895446_0_61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containers  behave like serverless functions</a:t>
            </a:r>
            <a:endParaRPr/>
          </a:p>
        </p:txBody>
      </p:sp>
      <p:sp>
        <p:nvSpPr>
          <p:cNvPr id="156" name="Google Shape;156;g38e86895446_0_61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g38e86895446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50" y="217175"/>
            <a:ext cx="9299776" cy="41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80c4de029_0_2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Storage and Data Lakes</a:t>
            </a:r>
            <a:endParaRPr/>
          </a:p>
        </p:txBody>
      </p:sp>
      <p:sp>
        <p:nvSpPr>
          <p:cNvPr id="163" name="Google Shape;163;g3880c4de029_0_2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g3880c4de029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25" y="827100"/>
            <a:ext cx="2174765" cy="260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880c4de029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740" y="668350"/>
            <a:ext cx="38100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880c4de029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68650" y="437700"/>
            <a:ext cx="1526900" cy="246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880c4de029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1907" y="3057450"/>
            <a:ext cx="1419068" cy="18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e86895446_0_6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8e86895446_0_6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g38e86895446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75" y="838100"/>
            <a:ext cx="2590800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8e86895446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8000" y="509750"/>
            <a:ext cx="6041325" cy="239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8e86895446_0_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8000" y="3629900"/>
            <a:ext cx="1623758" cy="23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8e86895446_0_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39459" y="3760742"/>
            <a:ext cx="1713725" cy="2135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8e86895446_0_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2300" y="2839750"/>
            <a:ext cx="1951700" cy="223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8e86895446_0_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05400" y="5179700"/>
            <a:ext cx="1302425" cy="15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8e86895446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500" y="827075"/>
            <a:ext cx="6671877" cy="2601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8e86895446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575" y="3581388"/>
            <a:ext cx="6815413" cy="312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86895446_0_8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8e86895446_0_8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g38e86895446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50" y="1805125"/>
            <a:ext cx="7772400" cy="3886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86895446_0_9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8e86895446_0_9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g38e86895446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075" y="1477150"/>
            <a:ext cx="7034950" cy="375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e86895446_0_100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8e86895446_0_100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g38e86895446_0_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875" y="1805100"/>
            <a:ext cx="6313321" cy="260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80c4de029_0_5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880c4de029_0_5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g3880c4de029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50" y="1114075"/>
            <a:ext cx="42862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e86895446_0_112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8e86895446_0_112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g38e86895446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50" y="717825"/>
            <a:ext cx="7706950" cy="33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e86895446_0_11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8e86895446_0_11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g38e86895446_0_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34" y="152400"/>
            <a:ext cx="6858549" cy="260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8e86895446_0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975" y="2833695"/>
            <a:ext cx="5847475" cy="34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e86895446_0_106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8e86895446_0_10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g38e86895446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50" y="304800"/>
            <a:ext cx="6137848" cy="2601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e86895446_0_1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Security, Auth </a:t>
            </a:r>
            <a:endParaRPr/>
          </a:p>
        </p:txBody>
      </p:sp>
      <p:sp>
        <p:nvSpPr>
          <p:cNvPr id="241" name="Google Shape;241;g38e86895446_0_1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g38e86895446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75" y="152400"/>
            <a:ext cx="5912476" cy="260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8e86895446_0_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9825" y="2565125"/>
            <a:ext cx="3704250" cy="20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8e86895446_0_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3600" y="5147872"/>
            <a:ext cx="4370324" cy="15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e86895446_0_13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IaC</a:t>
            </a:r>
            <a:endParaRPr/>
          </a:p>
        </p:txBody>
      </p:sp>
      <p:sp>
        <p:nvSpPr>
          <p:cNvPr id="250" name="Google Shape;250;g38e86895446_0_13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g38e86895446_0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750" y="1541775"/>
            <a:ext cx="6028584" cy="2601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g38e86895446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50" y="3566777"/>
            <a:ext cx="6604124" cy="27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e86895446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Misc.</a:t>
            </a:r>
            <a:endParaRPr/>
          </a:p>
        </p:txBody>
      </p:sp>
      <p:sp>
        <p:nvSpPr>
          <p:cNvPr id="262" name="Google Shape;262;g38e86895446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g38e8689544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18" y="1297399"/>
            <a:ext cx="2047550" cy="176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8e8689544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725" y="1157612"/>
            <a:ext cx="1742201" cy="204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8e86895446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7269" y="1297400"/>
            <a:ext cx="2354043" cy="176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8e86895446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2825" y="3642500"/>
            <a:ext cx="2627824" cy="262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for Training &amp; Inference</a:t>
            </a:r>
            <a:endParaRPr/>
          </a:p>
        </p:txBody>
      </p:sp>
      <p:sp>
        <p:nvSpPr>
          <p:cNvPr id="272" name="Google Shape;27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EC2 -&gt; ECS (Pure Docker, no K8s) -&gt; EKS (Managed K8s), Fargate (Pay‑per‑second pods)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ND A100 v4 VMs, Azure ML Compute Clusters, Azure Batch AI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A2/A3 GPU VMs, Vertex AI Training, Cloud TPU v5e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Containers &amp; Serverless Compute</a:t>
            </a:r>
            <a:endParaRPr/>
          </a:p>
        </p:txBody>
      </p:sp>
      <p:sp>
        <p:nvSpPr>
          <p:cNvPr id="278" name="Google Shape;27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EKS (Kubernetes), ECS Fargate, AWS Lambda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AKS, Container Apps, Azure Functions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GKE Autopilot, Cloud Run, Cloud Functions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&amp; Data Lakes</a:t>
            </a:r>
            <a:endParaRPr/>
          </a:p>
        </p:txBody>
      </p:sp>
      <p:sp>
        <p:nvSpPr>
          <p:cNvPr id="284" name="Google Shape;28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S3, Lake Formation, EFS/FSx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Blob Storage, Data Lake Storage Gen2, Azure Files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Cloud Storage, BigLake, Filestore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Engineering Pipelines</a:t>
            </a:r>
            <a:endParaRPr/>
          </a:p>
        </p:txBody>
      </p:sp>
      <p:sp>
        <p:nvSpPr>
          <p:cNvPr id="290" name="Google Shape;29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Glue, Data Pipeline, AWS DMS, Kinesis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Data Factory, Synapse Pipelines, Event Hubs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Dataflow, Dataproc, Pub/Sub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&amp; Embedding Stores</a:t>
            </a:r>
            <a:endParaRPr/>
          </a:p>
        </p:txBody>
      </p:sp>
      <p:sp>
        <p:nvSpPr>
          <p:cNvPr id="296" name="Google Shape;29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 SageMaker Feature Store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 ML Feature Store (preview)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 Vertex AI Feature Store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 Tracking &amp; Hyper‑param Tuning</a:t>
            </a:r>
            <a:endParaRPr/>
          </a:p>
        </p:txBody>
      </p:sp>
      <p:sp>
        <p:nvSpPr>
          <p:cNvPr id="302" name="Google Shape;30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SageMaker Experiments, Hyperparameter Tuning Jobs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ML Experiments, Sweep Jobs, NNI integration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Vertex AI Experiments, Vizier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Deployment &amp; Serving</a:t>
            </a:r>
            <a:endParaRPr/>
          </a:p>
        </p:txBody>
      </p:sp>
      <p:sp>
        <p:nvSpPr>
          <p:cNvPr id="308" name="Google Shape;30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SageMaker Real‑Time/Async Endpoints, SageMaker JumpStart, AWS Bedrock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Managed Online Endpoints, Azure OpenAI Service, Kubernetes Inference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Vertex AI Endpoints, Generative AI Platform (Gemini, Imagen)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&amp; Observability</a:t>
            </a:r>
            <a:endParaRPr/>
          </a:p>
        </p:txBody>
      </p:sp>
      <p:sp>
        <p:nvSpPr>
          <p:cNvPr id="314" name="Google Shape;31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SageMaker Model Monitor, CloudWatch, Bedrock Guardrails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Data Drift Monitor, Application Insights, Prompt Flow evals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Vertex Model Monitoring, Cloud Monitoring, AIP evaluation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&amp; Access Control</a:t>
            </a:r>
            <a:endParaRPr/>
          </a:p>
        </p:txBody>
      </p:sp>
      <p:sp>
        <p:nvSpPr>
          <p:cNvPr id="320" name="Google Shape;32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IAM, KMS, PrivateLink, Service Quotas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RBAC, Key Vault, Private Link, Managed Identities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IAM, Cloud KMS, VPC Service Controls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LLM‑Specific &amp; RAG Tooling</a:t>
            </a:r>
            <a:endParaRPr/>
          </a:p>
        </p:txBody>
      </p:sp>
      <p:sp>
        <p:nvSpPr>
          <p:cNvPr id="326" name="Google Shape;32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Bedrock Knowledge Bases, Kendra, SageMaker RAG templates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Azure AI Search, Prompt Flow, LangChain + Azure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Vertex AI Search &amp; Conversation, RAG Toolkit, Grounding evals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Niche / Advanced Offerings</a:t>
            </a:r>
            <a:endParaRPr/>
          </a:p>
        </p:txBody>
      </p:sp>
      <p:sp>
        <p:nvSpPr>
          <p:cNvPr id="332" name="Google Shape;332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AWS: CodeWhisperer, Inferentia / Trainium chips, SageMaker Clarify bias metrics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Azure: DeepSpeed Inference, OnnxRuntime‑Triton, Azure AI Studio evaluations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GCP: Cloud TPU Pods, Generative AI Studio, Cloud Data Fusion DQ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End‑to‑End Architecture</a:t>
            </a:r>
            <a:endParaRPr/>
          </a:p>
        </p:txBody>
      </p:sp>
      <p:sp>
        <p:nvSpPr>
          <p:cNvPr id="338" name="Google Shape;33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Diagram: Ingestion → Feature Store → Training → Registry → CI/CD → Endpoint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Patterns: Blue/Green, Shadow Deployments, Canary for LLM prompt changes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&amp; Further Learning</a:t>
            </a:r>
            <a:endParaRPr/>
          </a:p>
        </p:txBody>
      </p:sp>
      <p:sp>
        <p:nvSpPr>
          <p:cNvPr id="344" name="Google Shape;34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• Start simple: managed notebooks &amp; endpoints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• Use vendor‑agnostic tools: MLflow, Kubeflow, LangChain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• Monitor cost, drift, &amp; prompt quality from day 1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Docs: AWS Bedrock, Azure ML docs, GCP Vertex AI docs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