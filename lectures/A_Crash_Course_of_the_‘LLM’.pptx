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0f392393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0f392393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0f392393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a0f392393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f899fa3a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f899fa3a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0f392393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0f392393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0f392393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0f392393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f899fa3aa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f899fa3aa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0f392393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0f392393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0f3923933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0f3923933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f899fa3a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f899fa3a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f899fa3aa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f899fa3a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f392393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f392393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f899fa3aa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f899fa3aa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f899fa3a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f899fa3a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0f392393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0f392393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f899fa3aa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f899fa3aa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0f392393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0f392393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0f392393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0f392393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f899fa3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f899fa3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f899fa3a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f899fa3a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f899fa3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f899fa3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f899fa3a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f899fa3a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0f392393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0f392393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f899fa3a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f899fa3a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0f3923933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0f3923933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f899fa3a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f899fa3a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f899fa3a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f899fa3a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f899fa3aa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f899fa3a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0f3923933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0f392393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f899fa3a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f899fa3a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f899fa3a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f899fa3a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f899fa3a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9f899fa3a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f899fa3a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9f899fa3a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9f899fa3a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9f899fa3a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f899fa3a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f899fa3a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9f899fa3a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9f899fa3a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0f392393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a0f392393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f899fa3a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f899fa3a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0f392393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a0f392393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0f392393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a0f392393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f899fa3a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9f899fa3a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0f392393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a0f392393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learning.oreilly.com/library/view/hands-on-large-language/9781098150952/ch01.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tiktokenizer.vercel.ap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jalammar.github.io/illustrated-transformer/" TargetMode="External"/><Relationship Id="rId4" Type="http://schemas.openxmlformats.org/officeDocument/2006/relationships/hyperlink" Target="https://jalammar.github.io/illustrated-transformer/"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 Crash Course of the ‘LLM’</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n"/>
              <a:t>Kind of*</a:t>
            </a:r>
            <a:endParaRPr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6378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11700" y="-78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Case in point</a:t>
            </a:r>
            <a:endParaRPr/>
          </a:p>
        </p:txBody>
      </p:sp>
      <p:pic>
        <p:nvPicPr>
          <p:cNvPr id="62" name="Google Shape;62;p14"/>
          <p:cNvPicPr preferRelativeResize="0"/>
          <p:nvPr/>
        </p:nvPicPr>
        <p:blipFill>
          <a:blip r:embed="rId3">
            <a:alphaModFix/>
          </a:blip>
          <a:stretch>
            <a:fillRect/>
          </a:stretch>
        </p:blipFill>
        <p:spPr>
          <a:xfrm>
            <a:off x="218675" y="577050"/>
            <a:ext cx="6957849" cy="4376075"/>
          </a:xfrm>
          <a:prstGeom prst="rect">
            <a:avLst/>
          </a:prstGeom>
          <a:noFill/>
          <a:ln>
            <a:noFill/>
          </a:ln>
        </p:spPr>
      </p:pic>
      <p:pic>
        <p:nvPicPr>
          <p:cNvPr id="63" name="Google Shape;63;p14"/>
          <p:cNvPicPr preferRelativeResize="0"/>
          <p:nvPr/>
        </p:nvPicPr>
        <p:blipFill>
          <a:blip r:embed="rId4">
            <a:alphaModFix/>
          </a:blip>
          <a:stretch>
            <a:fillRect/>
          </a:stretch>
        </p:blipFill>
        <p:spPr>
          <a:xfrm>
            <a:off x="3964350" y="1058900"/>
            <a:ext cx="5179648" cy="264799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Business</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Spoiler of Milestone 2</a:t>
            </a:r>
            <a:endParaRPr/>
          </a:p>
          <a:p>
            <a:pPr indent="-342900" lvl="0" marL="457200" rtl="0" algn="l">
              <a:spcBef>
                <a:spcPts val="0"/>
              </a:spcBef>
              <a:spcAft>
                <a:spcPts val="0"/>
              </a:spcAft>
              <a:buSzPts val="1800"/>
              <a:buChar char="-"/>
            </a:pPr>
            <a:r>
              <a:rPr lang="en"/>
              <a:t>More Quizzes (Yay or nay?)</a:t>
            </a:r>
            <a:endParaRPr/>
          </a:p>
          <a:p>
            <a:pPr indent="-342900" lvl="0" marL="457200" rtl="0" algn="l">
              <a:spcBef>
                <a:spcPts val="0"/>
              </a:spcBef>
              <a:spcAft>
                <a:spcPts val="0"/>
              </a:spcAft>
              <a:buSzPts val="1800"/>
              <a:buChar char="-"/>
            </a:pPr>
            <a:r>
              <a:rPr lang="en"/>
              <a:t>This is not an NLP course per se..</a:t>
            </a:r>
            <a:endParaRPr/>
          </a:p>
          <a:p>
            <a:pPr indent="-342900" lvl="0" marL="457200" rtl="0" algn="l">
              <a:spcBef>
                <a:spcPts val="0"/>
              </a:spcBef>
              <a:spcAft>
                <a:spcPts val="0"/>
              </a:spcAft>
              <a:buSzPts val="1800"/>
              <a:buChar char="-"/>
            </a:pP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Slide Credits</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OReilly</a:t>
            </a:r>
            <a:endParaRPr/>
          </a:p>
          <a:p>
            <a:pPr indent="-342900" lvl="0" marL="457200" rtl="0" algn="l">
              <a:spcBef>
                <a:spcPts val="0"/>
              </a:spcBef>
              <a:spcAft>
                <a:spcPts val="0"/>
              </a:spcAft>
              <a:buSzPts val="1800"/>
              <a:buChar char="-"/>
            </a:pPr>
            <a:r>
              <a:rPr lang="en" u="sng">
                <a:solidFill>
                  <a:schemeClr val="hlink"/>
                </a:solidFill>
                <a:hlinkClick r:id="rId3"/>
              </a:rPr>
              <a:t>https://learning.oreilly.com/library/view/hands-on-large-language/9781098150952/ch01.html</a:t>
            </a:r>
            <a:endParaRPr/>
          </a:p>
          <a:p>
            <a:pPr indent="-342900" lvl="0" marL="457200" rtl="0" algn="l">
              <a:spcBef>
                <a:spcPts val="0"/>
              </a:spcBef>
              <a:spcAft>
                <a:spcPts val="0"/>
              </a:spcAft>
              <a:buSzPts val="1800"/>
              <a:buChar char="-"/>
            </a:pPr>
            <a:r>
              <a:rPr lang="en"/>
              <a:t>https://web.stanford.edu/~jurafsky/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2425" lvl="0" marL="457200" rtl="0" algn="l">
              <a:spcBef>
                <a:spcPts val="0"/>
              </a:spcBef>
              <a:spcAft>
                <a:spcPts val="0"/>
              </a:spcAft>
              <a:buClr>
                <a:schemeClr val="dk1"/>
              </a:buClr>
              <a:buSzPts val="1950"/>
              <a:buChar char="-"/>
            </a:pPr>
            <a:r>
              <a:rPr lang="en" sz="1950">
                <a:solidFill>
                  <a:schemeClr val="dk1"/>
                </a:solidFill>
              </a:rPr>
              <a:t>Why are LLMs built the way they are?  </a:t>
            </a:r>
            <a:endParaRPr sz="1950">
              <a:solidFill>
                <a:schemeClr val="dk1"/>
              </a:solidFill>
            </a:endParaRPr>
          </a:p>
          <a:p>
            <a:pPr indent="-352425" lvl="0" marL="457200" rtl="0" algn="l">
              <a:spcBef>
                <a:spcPts val="0"/>
              </a:spcBef>
              <a:spcAft>
                <a:spcPts val="0"/>
              </a:spcAft>
              <a:buClr>
                <a:schemeClr val="dk1"/>
              </a:buClr>
              <a:buSzPts val="1950"/>
              <a:buChar char="-"/>
            </a:pPr>
            <a:r>
              <a:rPr lang="en" sz="1950">
                <a:solidFill>
                  <a:schemeClr val="dk1"/>
                </a:solidFill>
              </a:rPr>
              <a:t>What fundamental problems did they have to solve?  </a:t>
            </a:r>
            <a:endParaRPr sz="1950">
              <a:solidFill>
                <a:schemeClr val="dk1"/>
              </a:solidFill>
            </a:endParaRPr>
          </a:p>
          <a:p>
            <a:pPr indent="-352425" lvl="0" marL="457200" rtl="0" algn="l">
              <a:spcBef>
                <a:spcPts val="0"/>
              </a:spcBef>
              <a:spcAft>
                <a:spcPts val="0"/>
              </a:spcAft>
              <a:buClr>
                <a:schemeClr val="dk1"/>
              </a:buClr>
              <a:buSzPts val="1950"/>
              <a:buChar char="-"/>
            </a:pPr>
            <a:r>
              <a:rPr lang="en" sz="1950">
                <a:solidFill>
                  <a:schemeClr val="dk1"/>
                </a:solidFill>
              </a:rPr>
              <a:t>And by the end, what new problems is this technology creating for us?</a:t>
            </a:r>
            <a:endParaRPr sz="195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2161725" y="2417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word?</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Tokens</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https://tiktokenizer.vercel.app/</a:t>
            </a:r>
            <a:endParaRPr/>
          </a:p>
          <a:p>
            <a:pPr indent="-342900" lvl="0" marL="457200" rtl="0" algn="l">
              <a:spcBef>
                <a:spcPts val="0"/>
              </a:spcBef>
              <a:spcAft>
                <a:spcPts val="0"/>
              </a:spcAft>
              <a:buSzPts val="1800"/>
              <a:buChar char="-"/>
            </a:pPr>
            <a:r>
              <a:rPr lang="en"/>
              <a:t>How many words in a sentence?</a:t>
            </a:r>
            <a:endParaRPr/>
          </a:p>
          <a:p>
            <a:pPr indent="-317500" lvl="1" marL="914400" rtl="0" algn="l">
              <a:spcBef>
                <a:spcPts val="0"/>
              </a:spcBef>
              <a:spcAft>
                <a:spcPts val="0"/>
              </a:spcAft>
              <a:buSzPts val="1400"/>
              <a:buChar char="-"/>
            </a:pPr>
            <a:r>
              <a:rPr lang="en"/>
              <a:t>They picnicked by the pool, then lay back on the grass and looked at the stars.</a:t>
            </a:r>
            <a:endParaRPr/>
          </a:p>
          <a:p>
            <a:pPr indent="-317500" lvl="2" marL="1371600" rtl="0" algn="l">
              <a:spcBef>
                <a:spcPts val="0"/>
              </a:spcBef>
              <a:spcAft>
                <a:spcPts val="0"/>
              </a:spcAft>
              <a:buSzPts val="1400"/>
              <a:buChar char="-"/>
            </a:pPr>
            <a:r>
              <a:rPr lang="en"/>
              <a:t>16 words?</a:t>
            </a:r>
            <a:endParaRPr/>
          </a:p>
          <a:p>
            <a:pPr indent="-317500" lvl="2" marL="1371600" rtl="0" algn="l">
              <a:spcBef>
                <a:spcPts val="0"/>
              </a:spcBef>
              <a:spcAft>
                <a:spcPts val="0"/>
              </a:spcAft>
              <a:buSzPts val="1400"/>
              <a:buChar char="-"/>
            </a:pPr>
            <a:r>
              <a:rPr lang="en"/>
              <a:t>18 if we count punctuation</a:t>
            </a:r>
            <a:endParaRPr/>
          </a:p>
          <a:p>
            <a:pPr indent="-317500" lvl="1" marL="914400" rtl="0" algn="l">
              <a:spcBef>
                <a:spcPts val="0"/>
              </a:spcBef>
              <a:spcAft>
                <a:spcPts val="0"/>
              </a:spcAft>
              <a:buSzPts val="1400"/>
              <a:buChar char="-"/>
            </a:pPr>
            <a:r>
              <a:rPr lang="en"/>
              <a:t>I'm</a:t>
            </a:r>
            <a:endParaRPr/>
          </a:p>
          <a:p>
            <a:pPr indent="-317500" lvl="2" marL="1371600" rtl="0" algn="l">
              <a:spcBef>
                <a:spcPts val="0"/>
              </a:spcBef>
              <a:spcAft>
                <a:spcPts val="0"/>
              </a:spcAft>
              <a:buSzPts val="1400"/>
              <a:buChar char="-"/>
            </a:pPr>
            <a:r>
              <a:rPr lang="en"/>
              <a:t>Orthographically one word</a:t>
            </a:r>
            <a:endParaRPr/>
          </a:p>
          <a:p>
            <a:pPr indent="-317500" lvl="2" marL="1371600" rtl="0" algn="l">
              <a:spcBef>
                <a:spcPts val="0"/>
              </a:spcBef>
              <a:spcAft>
                <a:spcPts val="0"/>
              </a:spcAft>
              <a:buSzPts val="1400"/>
              <a:buChar char="-"/>
            </a:pPr>
            <a:r>
              <a:rPr lang="en"/>
              <a:t>But grammatically two words:</a:t>
            </a:r>
            <a:endParaRPr/>
          </a:p>
          <a:p>
            <a:pPr indent="-342900" lvl="0" marL="457200" rtl="0" algn="l">
              <a:spcBef>
                <a:spcPts val="0"/>
              </a:spcBef>
              <a:spcAft>
                <a:spcPts val="0"/>
              </a:spcAft>
              <a:buSzPts val="1800"/>
              <a:buChar char="-"/>
            </a:pPr>
            <a:r>
              <a:rPr lang="en"/>
              <a:t>Not every written language uses spaces!!</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German..</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Char char="-"/>
            </a:pPr>
            <a:r>
              <a:rPr lang="en" sz="1950">
                <a:solidFill>
                  <a:schemeClr val="dk1"/>
                </a:solidFill>
              </a:rPr>
              <a:t>Donaudampfschifffahrtsgesellschaftskapitän (German…)</a:t>
            </a:r>
            <a:endParaRPr sz="195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Chinese</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1" marL="914400" rtl="0" algn="l">
              <a:spcBef>
                <a:spcPts val="0"/>
              </a:spcBef>
              <a:spcAft>
                <a:spcPts val="0"/>
              </a:spcAft>
              <a:buSzPts val="1400"/>
              <a:buChar char="-"/>
            </a:pPr>
            <a:r>
              <a:rPr lang="en"/>
              <a:t>Chinese words are composed of characters called "hanzi" (汉字) (or sometimes just "zi") Each one represents a meaning unit called a morpheme. Each word has on average 2.4 of them</a:t>
            </a:r>
            <a:endParaRPr/>
          </a:p>
          <a:p>
            <a:pPr indent="-352425" lvl="1" marL="914400" rtl="0" algn="l">
              <a:spcBef>
                <a:spcPts val="0"/>
              </a:spcBef>
              <a:spcAft>
                <a:spcPts val="0"/>
              </a:spcAft>
              <a:buClr>
                <a:schemeClr val="dk1"/>
              </a:buClr>
              <a:buSzPts val="1950"/>
              <a:buChar char="-"/>
            </a:pPr>
            <a:r>
              <a:t/>
            </a:r>
            <a:endParaRPr sz="1950">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106" name="Google Shape;106;p21"/>
          <p:cNvPicPr preferRelativeResize="0"/>
          <p:nvPr/>
        </p:nvPicPr>
        <p:blipFill>
          <a:blip r:embed="rId3">
            <a:alphaModFix/>
          </a:blip>
          <a:stretch>
            <a:fillRect/>
          </a:stretch>
        </p:blipFill>
        <p:spPr>
          <a:xfrm>
            <a:off x="2193625" y="2063505"/>
            <a:ext cx="4756750" cy="1873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Vocabulary Space is too big..</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3" name="Google Shape;113;p22"/>
          <p:cNvPicPr preferRelativeResize="0"/>
          <p:nvPr/>
        </p:nvPicPr>
        <p:blipFill>
          <a:blip r:embed="rId3">
            <a:alphaModFix/>
          </a:blip>
          <a:stretch>
            <a:fillRect/>
          </a:stretch>
        </p:blipFill>
        <p:spPr>
          <a:xfrm>
            <a:off x="0" y="1363441"/>
            <a:ext cx="9144003" cy="277266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3"/>
          <p:cNvPicPr preferRelativeResize="0"/>
          <p:nvPr/>
        </p:nvPicPr>
        <p:blipFill>
          <a:blip r:embed="rId3">
            <a:alphaModFix/>
          </a:blip>
          <a:stretch>
            <a:fillRect/>
          </a:stretch>
        </p:blipFill>
        <p:spPr>
          <a:xfrm>
            <a:off x="0" y="1708379"/>
            <a:ext cx="9144003" cy="279499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en" sz="2855"/>
              <a:t>The vocabulary of a living language is not a fixed list. It is an open, unbounded, and constantly growing set.</a:t>
            </a:r>
            <a:endParaRPr sz="2855"/>
          </a:p>
          <a:p>
            <a:pPr indent="0" lvl="0" marL="0" rtl="0" algn="l">
              <a:spcBef>
                <a:spcPts val="0"/>
              </a:spcBef>
              <a:spcAft>
                <a:spcPts val="0"/>
              </a:spcAft>
              <a:buSzPts val="990"/>
              <a:buNone/>
            </a:pPr>
            <a:r>
              <a:t/>
            </a:r>
            <a:endParaRPr b="1" sz="2180">
              <a:solidFill>
                <a:srgbClr val="FFFFFF"/>
              </a:solidFill>
              <a:highlight>
                <a:srgbClr val="1B1C1D"/>
              </a:highlight>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 matter how big our vocabulary There will always be words we missed! We will always have unknown words</a:t>
            </a:r>
            <a:endParaRPr/>
          </a:p>
          <a:p>
            <a:pPr indent="-342900" lvl="0" marL="457200" rtl="0" algn="l">
              <a:spcBef>
                <a:spcPts val="0"/>
              </a:spcBef>
              <a:spcAft>
                <a:spcPts val="0"/>
              </a:spcAft>
              <a:buSzPts val="1800"/>
              <a:buChar char="-"/>
            </a:pPr>
            <a:r>
              <a:rPr lang="en"/>
              <a:t>Cant simply add more data!</a:t>
            </a:r>
            <a:endParaRPr/>
          </a:p>
          <a:p>
            <a:pPr indent="-342900" lvl="0" marL="457200" rtl="0" algn="l">
              <a:spcBef>
                <a:spcPts val="0"/>
              </a:spcBef>
              <a:spcAft>
                <a:spcPts val="0"/>
              </a:spcAft>
              <a:buSzPts val="1800"/>
              <a:buChar char="-"/>
            </a:pPr>
            <a:r>
              <a:rPr lang="en"/>
              <a:t>NLP systems don't use words, but smaller units called subwords</a:t>
            </a:r>
            <a:endParaRPr/>
          </a:p>
          <a:p>
            <a:pPr indent="-317500" lvl="1" marL="914400" rtl="0" algn="l">
              <a:spcBef>
                <a:spcPts val="0"/>
              </a:spcBef>
              <a:spcAft>
                <a:spcPts val="0"/>
              </a:spcAft>
              <a:buSzPts val="1400"/>
              <a:buChar char="-"/>
            </a:pPr>
            <a:r>
              <a:rPr lang="en"/>
              <a:t>Morpheme: a minimal meaning-bearing unit in a language</a:t>
            </a:r>
            <a:endParaRPr/>
          </a:p>
          <a:p>
            <a:pPr indent="0" lvl="0" marL="91440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Instead of</a:t>
            </a:r>
            <a:endParaRPr/>
          </a:p>
          <a:p>
            <a:pPr indent="-317500" lvl="1" marL="914400" rtl="0" algn="l">
              <a:spcBef>
                <a:spcPts val="0"/>
              </a:spcBef>
              <a:spcAft>
                <a:spcPts val="0"/>
              </a:spcAft>
              <a:buSzPts val="1400"/>
              <a:buChar char="-"/>
            </a:pPr>
            <a:r>
              <a:rPr lang="en"/>
              <a:t>white-space / orthographic words </a:t>
            </a:r>
            <a:endParaRPr/>
          </a:p>
          <a:p>
            <a:pPr indent="-317500" lvl="2" marL="1371600" rtl="0" algn="l">
              <a:spcBef>
                <a:spcPts val="0"/>
              </a:spcBef>
              <a:spcAft>
                <a:spcPts val="0"/>
              </a:spcAft>
              <a:buSzPts val="1400"/>
              <a:buChar char="-"/>
            </a:pPr>
            <a:r>
              <a:rPr lang="en"/>
              <a:t>Lots of languages don't have them </a:t>
            </a:r>
            <a:endParaRPr/>
          </a:p>
          <a:p>
            <a:pPr indent="-317500" lvl="2" marL="1371600" rtl="0" algn="l">
              <a:spcBef>
                <a:spcPts val="0"/>
              </a:spcBef>
              <a:spcAft>
                <a:spcPts val="0"/>
              </a:spcAft>
              <a:buSzPts val="1400"/>
              <a:buChar char="-"/>
            </a:pPr>
            <a:r>
              <a:rPr lang="en"/>
              <a:t>The number of words grows without bound</a:t>
            </a:r>
            <a:endParaRPr/>
          </a:p>
          <a:p>
            <a:pPr indent="-317500" lvl="1" marL="914400" rtl="0" algn="l">
              <a:spcBef>
                <a:spcPts val="0"/>
              </a:spcBef>
              <a:spcAft>
                <a:spcPts val="0"/>
              </a:spcAft>
              <a:buSzPts val="1400"/>
              <a:buChar char="-"/>
            </a:pPr>
            <a:r>
              <a:rPr lang="en"/>
              <a:t>Unicode characters</a:t>
            </a:r>
            <a:endParaRPr/>
          </a:p>
          <a:p>
            <a:pPr indent="-317500" lvl="2" marL="1371600" rtl="0" algn="l">
              <a:spcBef>
                <a:spcPts val="0"/>
              </a:spcBef>
              <a:spcAft>
                <a:spcPts val="0"/>
              </a:spcAft>
              <a:buSzPts val="1400"/>
              <a:buChar char="-"/>
            </a:pPr>
            <a:r>
              <a:rPr lang="en"/>
              <a:t>Too small as tokens for many purposes </a:t>
            </a:r>
            <a:endParaRPr/>
          </a:p>
          <a:p>
            <a:pPr indent="-317500" lvl="1" marL="914400" rtl="0" algn="l">
              <a:spcBef>
                <a:spcPts val="0"/>
              </a:spcBef>
              <a:spcAft>
                <a:spcPts val="0"/>
              </a:spcAft>
              <a:buSzPts val="1400"/>
              <a:buChar char="-"/>
            </a:pPr>
            <a:r>
              <a:rPr lang="en"/>
              <a:t>morphemes </a:t>
            </a:r>
            <a:endParaRPr/>
          </a:p>
          <a:p>
            <a:pPr indent="-317500" lvl="2" marL="1371600" rtl="0" algn="l">
              <a:spcBef>
                <a:spcPts val="0"/>
              </a:spcBef>
              <a:spcAft>
                <a:spcPts val="0"/>
              </a:spcAft>
              <a:buSzPts val="1400"/>
              <a:buChar char="-"/>
            </a:pPr>
            <a:r>
              <a:rPr lang="en"/>
              <a:t>Very hard to define We use the data to tell us how to tokenize.</a:t>
            </a:r>
            <a:endParaRPr/>
          </a:p>
          <a:p>
            <a:pPr indent="-342900" lvl="0" marL="457200" rtl="0" algn="l">
              <a:spcBef>
                <a:spcPts val="0"/>
              </a:spcBef>
              <a:spcAft>
                <a:spcPts val="0"/>
              </a:spcAft>
              <a:buSzPts val="1800"/>
              <a:buChar char="-"/>
            </a:pPr>
            <a:r>
              <a:rPr lang="en"/>
              <a:t>Using a deterministic series of tokens means systems can be compared equally ◦ Systems agree on the length of a string Eliminates the problem of unknown words, e.g BPE</a:t>
            </a:r>
            <a:endParaRPr/>
          </a:p>
          <a:p>
            <a:pPr indent="-342900" lvl="0" marL="457200" rtl="0" algn="l">
              <a:spcBef>
                <a:spcPts val="0"/>
              </a:spcBef>
              <a:spcAft>
                <a:spcPts val="0"/>
              </a:spcAft>
              <a:buSzPts val="1800"/>
              <a:buChar char="-"/>
            </a:pPr>
            <a:r>
              <a:rPr lang="en"/>
              <a:t>Demo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4" name="Google Shape;14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5" name="Google Shape;145;p27"/>
          <p:cNvPicPr preferRelativeResize="0"/>
          <p:nvPr/>
        </p:nvPicPr>
        <p:blipFill>
          <a:blip r:embed="rId3">
            <a:alphaModFix/>
          </a:blip>
          <a:stretch>
            <a:fillRect/>
          </a:stretch>
        </p:blipFill>
        <p:spPr>
          <a:xfrm>
            <a:off x="523875" y="2057400"/>
            <a:ext cx="8096250" cy="102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1" name="Google Shape;15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8"/>
          <p:cNvPicPr preferRelativeResize="0"/>
          <p:nvPr/>
        </p:nvPicPr>
        <p:blipFill>
          <a:blip r:embed="rId3">
            <a:alphaModFix/>
          </a:blip>
          <a:stretch>
            <a:fillRect/>
          </a:stretch>
        </p:blipFill>
        <p:spPr>
          <a:xfrm>
            <a:off x="0" y="960884"/>
            <a:ext cx="9144003" cy="379958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Embeddings</a:t>
            </a:r>
            <a:endParaRPr/>
          </a:p>
        </p:txBody>
      </p:sp>
      <p:sp>
        <p:nvSpPr>
          <p:cNvPr id="158" name="Google Shape;158;p29"/>
          <p:cNvSpPr txBox="1"/>
          <p:nvPr>
            <p:ph idx="1" type="body"/>
          </p:nvPr>
        </p:nvSpPr>
        <p:spPr>
          <a:xfrm>
            <a:off x="311700" y="1017725"/>
            <a:ext cx="6149700" cy="355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Char char="-"/>
            </a:pPr>
            <a:r>
              <a:rPr lang="en" sz="1700">
                <a:solidFill>
                  <a:schemeClr val="dk1"/>
                </a:solidFill>
              </a:rPr>
              <a:t>Represent each token (word/subword) as a numeric </a:t>
            </a:r>
            <a:r>
              <a:rPr b="1" lang="en" sz="1700">
                <a:solidFill>
                  <a:schemeClr val="dk1"/>
                </a:solidFill>
              </a:rPr>
              <a:t>vector embedding</a:t>
            </a:r>
            <a:r>
              <a:rPr lang="en" sz="1700">
                <a:solidFill>
                  <a:schemeClr val="dk1"/>
                </a:solidFill>
              </a:rPr>
              <a:t> in high-dimensional space</a:t>
            </a:r>
            <a:br>
              <a:rPr lang="en" sz="1700">
                <a:solidFill>
                  <a:schemeClr val="dk1"/>
                </a:solidFill>
              </a:rPr>
            </a:br>
            <a:endParaRPr sz="1700">
              <a:solidFill>
                <a:schemeClr val="dk1"/>
              </a:solidFill>
            </a:endParaRPr>
          </a:p>
          <a:p>
            <a:pPr indent="-381000" lvl="0" marL="457200" rtl="0" algn="l">
              <a:spcBef>
                <a:spcPts val="0"/>
              </a:spcBef>
              <a:spcAft>
                <a:spcPts val="0"/>
              </a:spcAft>
              <a:buSzPts val="2400"/>
              <a:buChar char="-"/>
            </a:pPr>
            <a:r>
              <a:rPr b="1" lang="en" sz="1700">
                <a:solidFill>
                  <a:schemeClr val="dk1"/>
                </a:solidFill>
              </a:rPr>
              <a:t>Embedding space:</a:t>
            </a:r>
            <a:r>
              <a:rPr lang="en" sz="1700">
                <a:solidFill>
                  <a:schemeClr val="dk1"/>
                </a:solidFill>
              </a:rPr>
              <a:t> similar meaning tokens have vector representations that are close together</a:t>
            </a:r>
            <a:br>
              <a:rPr lang="en" sz="1700">
                <a:solidFill>
                  <a:schemeClr val="dk1"/>
                </a:solidFill>
              </a:rPr>
            </a:br>
            <a:endParaRPr sz="1700">
              <a:solidFill>
                <a:schemeClr val="dk1"/>
              </a:solidFill>
            </a:endParaRPr>
          </a:p>
          <a:p>
            <a:pPr indent="-381000" lvl="0" marL="457200" rtl="0" algn="l">
              <a:spcBef>
                <a:spcPts val="0"/>
              </a:spcBef>
              <a:spcAft>
                <a:spcPts val="0"/>
              </a:spcAft>
              <a:buSzPts val="2400"/>
              <a:buChar char="-"/>
            </a:pPr>
            <a:r>
              <a:rPr lang="en" sz="1700">
                <a:solidFill>
                  <a:schemeClr val="dk1"/>
                </a:solidFill>
              </a:rPr>
              <a:t>These embeddings are </a:t>
            </a:r>
            <a:r>
              <a:rPr b="1" lang="en" sz="1700">
                <a:solidFill>
                  <a:schemeClr val="dk1"/>
                </a:solidFill>
              </a:rPr>
              <a:t>learned</a:t>
            </a:r>
            <a:r>
              <a:rPr lang="en" sz="1700">
                <a:solidFill>
                  <a:schemeClr val="dk1"/>
                </a:solidFill>
              </a:rPr>
              <a:t> during training, capturing semantic relationships between wo</a:t>
            </a:r>
            <a:endParaRPr sz="1700">
              <a:solidFill>
                <a:schemeClr val="dk1"/>
              </a:solidFill>
            </a:endParaRPr>
          </a:p>
          <a:p>
            <a:pPr indent="-381000" lvl="0" marL="457200" rtl="0" algn="l">
              <a:spcBef>
                <a:spcPts val="0"/>
              </a:spcBef>
              <a:spcAft>
                <a:spcPts val="0"/>
              </a:spcAft>
              <a:buSzPts val="2400"/>
              <a:buChar char="-"/>
            </a:pPr>
            <a:r>
              <a:t/>
            </a:r>
            <a:endParaRPr sz="2400"/>
          </a:p>
        </p:txBody>
      </p:sp>
      <p:pic>
        <p:nvPicPr>
          <p:cNvPr id="159" name="Google Shape;159;p29"/>
          <p:cNvPicPr preferRelativeResize="0"/>
          <p:nvPr/>
        </p:nvPicPr>
        <p:blipFill>
          <a:blip r:embed="rId3">
            <a:alphaModFix/>
          </a:blip>
          <a:stretch>
            <a:fillRect/>
          </a:stretch>
        </p:blipFill>
        <p:spPr>
          <a:xfrm>
            <a:off x="5322025" y="1351348"/>
            <a:ext cx="3821976" cy="28838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the RNNs didnt work..</a:t>
            </a:r>
            <a:endParaRPr/>
          </a:p>
        </p:txBody>
      </p:sp>
      <p:sp>
        <p:nvSpPr>
          <p:cNvPr id="165" name="Google Shape;16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950">
                <a:solidFill>
                  <a:schemeClr val="dk1"/>
                </a:solidFill>
              </a:rPr>
              <a:t>Flaw 1: The Vanishing Gradient Problem.</a:t>
            </a:r>
            <a:endParaRPr sz="1950">
              <a:solidFill>
                <a:schemeClr val="dk1"/>
              </a:solidFill>
            </a:endParaRPr>
          </a:p>
          <a:p>
            <a:pPr indent="-342900" lvl="0" marL="457200" rtl="0" algn="l">
              <a:spcBef>
                <a:spcPts val="0"/>
              </a:spcBef>
              <a:spcAft>
                <a:spcPts val="0"/>
              </a:spcAft>
              <a:buSzPts val="1800"/>
              <a:buChar char="-"/>
            </a:pPr>
            <a:r>
              <a:rPr lang="en" sz="1950">
                <a:solidFill>
                  <a:schemeClr val="dk1"/>
                </a:solidFill>
              </a:rPr>
              <a:t>Flaw 2: It's slow.</a:t>
            </a:r>
            <a:endParaRPr sz="1950">
              <a:solidFill>
                <a:schemeClr val="dk1"/>
              </a:solidFill>
            </a:endParaRPr>
          </a:p>
          <a:p>
            <a:pPr indent="-342900" lvl="0" marL="457200" rtl="0" algn="l">
              <a:spcBef>
                <a:spcPts val="0"/>
              </a:spcBef>
              <a:spcAft>
                <a:spcPts val="0"/>
              </a:spcAft>
              <a:buSzPts val="1800"/>
              <a:buChar char="-"/>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First came the transformers…</a:t>
            </a:r>
            <a:endParaRPr/>
          </a:p>
        </p:txBody>
      </p:sp>
      <p:sp>
        <p:nvSpPr>
          <p:cNvPr id="171" name="Google Shape;17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950">
                <a:solidFill>
                  <a:schemeClr val="dk1"/>
                </a:solidFill>
              </a:rPr>
              <a:t>It has no recurrence.</a:t>
            </a:r>
            <a:endParaRPr sz="1950">
              <a:solidFill>
                <a:schemeClr val="dk1"/>
              </a:solidFill>
            </a:endParaRPr>
          </a:p>
          <a:p>
            <a:pPr indent="-298450" lvl="0" marL="457200" rtl="0" algn="l">
              <a:spcBef>
                <a:spcPts val="0"/>
              </a:spcBef>
              <a:spcAft>
                <a:spcPts val="0"/>
              </a:spcAft>
              <a:buClr>
                <a:schemeClr val="dk1"/>
              </a:buClr>
              <a:buSzPts val="1100"/>
              <a:buChar char="-"/>
            </a:pPr>
            <a:r>
              <a:rPr lang="en" sz="1950">
                <a:solidFill>
                  <a:schemeClr val="dk1"/>
                </a:solidFill>
              </a:rPr>
              <a:t>It is massively parallel</a:t>
            </a:r>
            <a:br>
              <a:rPr lang="en"/>
            </a:br>
            <a:r>
              <a:rPr lang="en"/>
              <a:t>encoder-decoder model</a:t>
            </a:r>
            <a:endParaRPr/>
          </a:p>
          <a:p>
            <a:pPr indent="-298450" lvl="0" marL="457200" rtl="0" algn="l">
              <a:spcBef>
                <a:spcPts val="0"/>
              </a:spcBef>
              <a:spcAft>
                <a:spcPts val="0"/>
              </a:spcAft>
              <a:buClr>
                <a:schemeClr val="dk1"/>
              </a:buClr>
              <a:buSzPts val="1100"/>
              <a:buChar char="-"/>
            </a:pPr>
            <a:r>
              <a:rPr lang="en"/>
              <a:t>key insight: was that attention could be used as the only mechanism to derive dependencies between input and output</a:t>
            </a:r>
            <a:endParaRPr/>
          </a:p>
          <a:p>
            <a:pPr indent="-298450" lvl="1" marL="914400" rtl="0" algn="l">
              <a:spcBef>
                <a:spcPts val="0"/>
              </a:spcBef>
              <a:spcAft>
                <a:spcPts val="0"/>
              </a:spcAft>
              <a:buClr>
                <a:schemeClr val="dk1"/>
              </a:buClr>
              <a:buSzPts val="1100"/>
              <a:buChar char="-"/>
            </a:pPr>
            <a:r>
              <a:rPr lang="en"/>
              <a:t>input: sequence of tokens</a:t>
            </a:r>
            <a:endParaRPr/>
          </a:p>
          <a:p>
            <a:pPr indent="-298450" lvl="1" marL="914400" rtl="0" algn="l">
              <a:spcBef>
                <a:spcPts val="0"/>
              </a:spcBef>
              <a:spcAft>
                <a:spcPts val="0"/>
              </a:spcAft>
              <a:buClr>
                <a:schemeClr val="dk1"/>
              </a:buClr>
              <a:buSzPts val="1100"/>
              <a:buChar char="-"/>
            </a:pPr>
            <a:r>
              <a:rPr lang="en"/>
              <a:t>output: fixed-dimension representation, with separate represenation of the sequence</a:t>
            </a:r>
            <a:endParaRPr/>
          </a:p>
          <a:p>
            <a:pPr indent="-298450" lvl="1" marL="914400" rtl="0" algn="l">
              <a:spcBef>
                <a:spcPts val="0"/>
              </a:spcBef>
              <a:spcAft>
                <a:spcPts val="0"/>
              </a:spcAft>
              <a:buClr>
                <a:schemeClr val="dk1"/>
              </a:buClr>
              <a:buSzPts val="1100"/>
              <a:buChar char="-"/>
            </a:pPr>
            <a:r>
              <a:rPr lang="en"/>
              <a:t>decoder: takes output as input and gives a seq of token</a:t>
            </a:r>
            <a:endParaRPr/>
          </a:p>
          <a:p>
            <a:pPr indent="0" lvl="0" marL="45720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7" name="Google Shape;177;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8" name="Google Shape;178;p32"/>
          <p:cNvPicPr preferRelativeResize="0"/>
          <p:nvPr/>
        </p:nvPicPr>
        <p:blipFill>
          <a:blip r:embed="rId3">
            <a:alphaModFix/>
          </a:blip>
          <a:stretch>
            <a:fillRect/>
          </a:stretch>
        </p:blipFill>
        <p:spPr>
          <a:xfrm>
            <a:off x="1162673" y="766050"/>
            <a:ext cx="6344851" cy="42884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4" name="Google Shape;18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5" name="Google Shape;185;p33"/>
          <p:cNvPicPr preferRelativeResize="0"/>
          <p:nvPr/>
        </p:nvPicPr>
        <p:blipFill>
          <a:blip r:embed="rId3">
            <a:alphaModFix/>
          </a:blip>
          <a:stretch>
            <a:fillRect/>
          </a:stretch>
        </p:blipFill>
        <p:spPr>
          <a:xfrm>
            <a:off x="3016875" y="178050"/>
            <a:ext cx="2995799" cy="4142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USP</a:t>
            </a:r>
            <a:endParaRPr/>
          </a:p>
        </p:txBody>
      </p:sp>
      <p:sp>
        <p:nvSpPr>
          <p:cNvPr id="191" name="Google Shape;19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a:t>Positional Encodings:</a:t>
            </a:r>
            <a:endParaRPr/>
          </a:p>
          <a:p>
            <a:pPr indent="-298450" lvl="1" marL="914400" rtl="0" algn="l">
              <a:spcBef>
                <a:spcPts val="0"/>
              </a:spcBef>
              <a:spcAft>
                <a:spcPts val="0"/>
              </a:spcAft>
              <a:buClr>
                <a:schemeClr val="dk1"/>
              </a:buClr>
              <a:buSzPts val="1100"/>
              <a:buChar char="-"/>
            </a:pPr>
            <a:r>
              <a:rPr lang="en"/>
              <a:t>Encoding word order as data rather than relying on sequential processing vs RNNs</a:t>
            </a:r>
            <a:endParaRPr/>
          </a:p>
          <a:p>
            <a:pPr indent="-342900" lvl="0" marL="457200" rtl="0" algn="l">
              <a:spcBef>
                <a:spcPts val="0"/>
              </a:spcBef>
              <a:spcAft>
                <a:spcPts val="0"/>
              </a:spcAft>
              <a:buSzPts val="1800"/>
              <a:buChar char="-"/>
            </a:pPr>
            <a:r>
              <a:rPr lang="en" sz="1800"/>
              <a:t>Tokens: Subwords are handled for OOV words</a:t>
            </a:r>
            <a:endParaRPr sz="1800"/>
          </a:p>
          <a:p>
            <a:pPr indent="-342900" lvl="0" marL="457200" rtl="0" algn="l">
              <a:spcBef>
                <a:spcPts val="0"/>
              </a:spcBef>
              <a:spcAft>
                <a:spcPts val="0"/>
              </a:spcAft>
              <a:buSzPts val="1800"/>
              <a:buChar char="-"/>
            </a:pPr>
            <a:r>
              <a:rPr lang="en"/>
              <a:t>Attention</a:t>
            </a:r>
            <a:endParaRPr/>
          </a:p>
          <a:p>
            <a:pPr indent="-317500" lvl="1" marL="914400" rtl="0" algn="l">
              <a:spcBef>
                <a:spcPts val="0"/>
              </a:spcBef>
              <a:spcAft>
                <a:spcPts val="0"/>
              </a:spcAft>
              <a:buSzPts val="1400"/>
              <a:buChar char="-"/>
            </a:pPr>
            <a:r>
              <a:rPr lang="en"/>
              <a:t>What..?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439400" y="2411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word is known by the company it keeps…</a:t>
            </a:r>
            <a:endParaRPr/>
          </a:p>
        </p:txBody>
      </p:sp>
      <p:sp>
        <p:nvSpPr>
          <p:cNvPr id="197" name="Google Shape;19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3" name="Google Shape;2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 attention function is a mapping between a query and a set of key-value pairs to an output.” Allowing the model to "attend" to relevant words. Implemented using three matrices, Q, K and V</a:t>
            </a:r>
            <a:endParaRPr/>
          </a:p>
        </p:txBody>
      </p:sp>
      <p:pic>
        <p:nvPicPr>
          <p:cNvPr id="204" name="Google Shape;204;p36"/>
          <p:cNvPicPr preferRelativeResize="0"/>
          <p:nvPr/>
        </p:nvPicPr>
        <p:blipFill>
          <a:blip r:embed="rId3">
            <a:alphaModFix/>
          </a:blip>
          <a:stretch>
            <a:fillRect/>
          </a:stretch>
        </p:blipFill>
        <p:spPr>
          <a:xfrm>
            <a:off x="1939499" y="2245875"/>
            <a:ext cx="4489874" cy="27393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0" name="Google Shape;21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47345" lvl="0" marL="457200" rtl="0" algn="l">
              <a:spcBef>
                <a:spcPts val="1200"/>
              </a:spcBef>
              <a:spcAft>
                <a:spcPts val="0"/>
              </a:spcAft>
              <a:buSzPct val="100000"/>
              <a:buChar char="●"/>
            </a:pPr>
            <a:r>
              <a:rPr lang="en" sz="2200"/>
              <a:t>Q = Query vector: Represents what the current token seeks.</a:t>
            </a:r>
            <a:endParaRPr sz="2200"/>
          </a:p>
          <a:p>
            <a:pPr indent="-347345" lvl="0" marL="457200" rtl="0" algn="l">
              <a:spcBef>
                <a:spcPts val="0"/>
              </a:spcBef>
              <a:spcAft>
                <a:spcPts val="0"/>
              </a:spcAft>
              <a:buSzPct val="100000"/>
              <a:buChar char="●"/>
            </a:pPr>
            <a:r>
              <a:rPr lang="en" sz="2200"/>
              <a:t>K = Key vector: Indicates what information another token holds or how it's indexed.</a:t>
            </a:r>
            <a:endParaRPr sz="2200"/>
          </a:p>
          <a:p>
            <a:pPr indent="-347345" lvl="0" marL="457200" rtl="0" algn="l">
              <a:spcBef>
                <a:spcPts val="0"/>
              </a:spcBef>
              <a:spcAft>
                <a:spcPts val="0"/>
              </a:spcAft>
              <a:buSzPct val="100000"/>
              <a:buChar char="●"/>
            </a:pPr>
            <a:r>
              <a:rPr lang="en" sz="2200"/>
              <a:t>V = Value vector: The actual content of another token passed if attended to.</a:t>
            </a:r>
            <a:endParaRPr sz="2200"/>
          </a:p>
          <a:p>
            <a:pPr indent="-347345" lvl="0" marL="457200" rtl="0" algn="l">
              <a:spcBef>
                <a:spcPts val="0"/>
              </a:spcBef>
              <a:spcAft>
                <a:spcPts val="0"/>
              </a:spcAft>
              <a:buSzPct val="100000"/>
              <a:buChar char="●"/>
            </a:pPr>
            <a:r>
              <a:rPr lang="en" sz="2200"/>
              <a:t>The Transformer calculates a similarity score (Q · K) between Q and each K, scales it, and applies softmax to get attention probabilities. These scores determine how much attention to pay to each token.</a:t>
            </a:r>
            <a:endParaRPr sz="2200"/>
          </a:p>
          <a:p>
            <a:pPr indent="-347345" lvl="0" marL="457200" rtl="0" algn="l">
              <a:spcBef>
                <a:spcPts val="0"/>
              </a:spcBef>
              <a:spcAft>
                <a:spcPts val="0"/>
              </a:spcAft>
              <a:buSzPct val="100000"/>
              <a:buChar char="●"/>
            </a:pPr>
            <a:r>
              <a:rPr lang="en" sz="2200"/>
              <a:t>The output for the current position is a weighted sum of all value vectors, using attention scores as weights.</a:t>
            </a:r>
            <a:endParaRPr sz="2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6" name="Google Shape;21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7" name="Google Shape;217;p38"/>
          <p:cNvPicPr preferRelativeResize="0"/>
          <p:nvPr/>
        </p:nvPicPr>
        <p:blipFill>
          <a:blip r:embed="rId3">
            <a:alphaModFix/>
          </a:blip>
          <a:stretch>
            <a:fillRect/>
          </a:stretch>
        </p:blipFill>
        <p:spPr>
          <a:xfrm>
            <a:off x="1039524" y="928700"/>
            <a:ext cx="6793672" cy="4125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3" name="Google Shape;22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 to this: </a:t>
            </a:r>
            <a:endParaRPr/>
          </a:p>
          <a:p>
            <a:pPr indent="0" lvl="0" marL="0" rtl="0" algn="l">
              <a:spcBef>
                <a:spcPts val="1200"/>
              </a:spcBef>
              <a:spcAft>
                <a:spcPts val="0"/>
              </a:spcAft>
              <a:buNone/>
            </a:pPr>
            <a:r>
              <a:rPr lang="en" sz="1100" u="sng">
                <a:solidFill>
                  <a:srgbClr val="7D7A75"/>
                </a:solidFill>
                <a:hlinkClick r:id="rId3">
                  <a:extLst>
                    <a:ext uri="{A12FA001-AC4F-418D-AE19-62706E023703}">
                      <ahyp:hlinkClr val="tx"/>
                    </a:ext>
                  </a:extLst>
                </a:hlinkClick>
              </a:rPr>
              <a:t>Jay Alammar</a:t>
            </a:r>
            <a:r>
              <a:rPr lang="en" sz="1100" u="sng">
                <a:solidFill>
                  <a:schemeClr val="hlink"/>
                </a:solidFill>
                <a:hlinkClick r:id="rId4"/>
              </a:rPr>
              <a:t>The Illustrated Transformer</a:t>
            </a: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It's</a:t>
            </a:r>
            <a:r>
              <a:rPr lang="en"/>
              <a:t> not just enough that you pay attention..</a:t>
            </a:r>
            <a:endParaRPr/>
          </a:p>
        </p:txBody>
      </p:sp>
      <p:sp>
        <p:nvSpPr>
          <p:cNvPr id="229" name="Google Shape;229;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AutoNum type="arabicPeriod"/>
            </a:pPr>
            <a:r>
              <a:rPr lang="en"/>
              <a:t>self-attention: Allowing the model to understand words in the context of surrounding words</a:t>
            </a:r>
            <a:endParaRPr/>
          </a:p>
          <a:p>
            <a:pPr indent="-298450" lvl="0" marL="457200" rtl="0" algn="l">
              <a:spcBef>
                <a:spcPts val="0"/>
              </a:spcBef>
              <a:spcAft>
                <a:spcPts val="0"/>
              </a:spcAft>
              <a:buClr>
                <a:schemeClr val="dk1"/>
              </a:buClr>
              <a:buSzPts val="1100"/>
              <a:buAutoNum type="arabicPeriod"/>
            </a:pPr>
            <a:r>
              <a:rPr lang="en"/>
              <a:t>multi-head: lots of different context, multiple attention blocks independently computing representations for each token.</a:t>
            </a:r>
            <a:endParaRPr/>
          </a:p>
          <a:p>
            <a:pPr indent="-298450" lvl="1" marL="914400" rtl="0" algn="l">
              <a:spcBef>
                <a:spcPts val="0"/>
              </a:spcBef>
              <a:spcAft>
                <a:spcPts val="0"/>
              </a:spcAft>
              <a:buClr>
                <a:schemeClr val="dk1"/>
              </a:buClr>
              <a:buSzPts val="1100"/>
              <a:buAutoNum type="arabicPeriod"/>
            </a:pPr>
            <a:r>
              <a:rPr lang="en"/>
              <a:t>for decoder part of the model it uses masked all tokens so that the decoder can only attend to prev. tokens</a:t>
            </a:r>
            <a:endParaRPr/>
          </a:p>
          <a:p>
            <a:pPr indent="-298450" lvl="0" marL="457200" rtl="0" algn="l">
              <a:spcBef>
                <a:spcPts val="0"/>
              </a:spcBef>
              <a:spcAft>
                <a:spcPts val="0"/>
              </a:spcAft>
              <a:buClr>
                <a:schemeClr val="dk1"/>
              </a:buClr>
              <a:buSzPts val="1100"/>
              <a:buAutoNum type="arabicPeriod"/>
            </a:pPr>
            <a:r>
              <a:rPr lang="en"/>
              <a:t>Each each input token flows through the layers in its own path, while, at the same time, being directly dependent on every other token in the input sequence. This enables parallelization</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 Head</a:t>
            </a:r>
            <a:endParaRPr/>
          </a:p>
        </p:txBody>
      </p:sp>
      <p:sp>
        <p:nvSpPr>
          <p:cNvPr id="235" name="Google Shape;23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Head 1 might focus on syntactic relationships (maybe links pronouns to antecedents).</a:t>
            </a:r>
            <a:br>
              <a:rPr lang="en"/>
            </a:br>
            <a:r>
              <a:rPr lang="en"/>
              <a:t>Head 2 might focus on semantic theme (grouping words about a topic).</a:t>
            </a:r>
            <a:br>
              <a:rPr lang="en"/>
            </a:br>
            <a:endParaRPr/>
          </a:p>
          <a:p>
            <a:pPr indent="0" lvl="0" marL="0" rtl="0" algn="l">
              <a:spcBef>
                <a:spcPts val="1200"/>
              </a:spcBef>
              <a:spcAft>
                <a:spcPts val="0"/>
              </a:spcAft>
              <a:buClr>
                <a:schemeClr val="dk1"/>
              </a:buClr>
              <a:buSzPts val="1100"/>
              <a:buFont typeface="Arial"/>
              <a:buNone/>
            </a:pPr>
            <a:r>
              <a:rPr lang="en"/>
              <a:t>Head 3 might focus on positional relations (like which word comes after which).</a:t>
            </a:r>
            <a:br>
              <a:rPr lang="en"/>
            </a:br>
            <a:endParaRPr/>
          </a:p>
          <a:p>
            <a:pPr indent="0" lvl="0" marL="0" rtl="0" algn="l">
              <a:spcBef>
                <a:spcPts val="1200"/>
              </a:spcBef>
              <a:spcAft>
                <a:spcPts val="0"/>
              </a:spcAft>
              <a:buClr>
                <a:schemeClr val="dk1"/>
              </a:buClr>
              <a:buSzPts val="1100"/>
              <a:buFont typeface="Arial"/>
              <a:buNone/>
            </a:pPr>
            <a:r>
              <a:rPr lang="en"/>
              <a:t>Head 4 might be looking at something like verb-object relationships, etc</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1" name="Google Shape;24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2" name="Google Shape;242;p42"/>
          <p:cNvPicPr preferRelativeResize="0"/>
          <p:nvPr/>
        </p:nvPicPr>
        <p:blipFill>
          <a:blip r:embed="rId3">
            <a:alphaModFix/>
          </a:blip>
          <a:stretch>
            <a:fillRect/>
          </a:stretch>
        </p:blipFill>
        <p:spPr>
          <a:xfrm>
            <a:off x="1104990" y="0"/>
            <a:ext cx="6934019" cy="51434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models..</a:t>
            </a:r>
            <a:endParaRPr/>
          </a:p>
        </p:txBody>
      </p:sp>
      <p:sp>
        <p:nvSpPr>
          <p:cNvPr id="248" name="Google Shape;248;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9722" lvl="0" marL="457200" rtl="0" algn="l">
              <a:lnSpc>
                <a:spcPct val="95000"/>
              </a:lnSpc>
              <a:spcBef>
                <a:spcPts val="1200"/>
              </a:spcBef>
              <a:spcAft>
                <a:spcPts val="0"/>
              </a:spcAft>
              <a:buClr>
                <a:schemeClr val="dk1"/>
              </a:buClr>
              <a:buSzPts val="1435"/>
              <a:buChar char="●"/>
            </a:pPr>
            <a:r>
              <a:rPr b="1" lang="en" sz="1435">
                <a:solidFill>
                  <a:schemeClr val="dk1"/>
                </a:solidFill>
              </a:rPr>
              <a:t>Encoder (left)</a:t>
            </a:r>
            <a:r>
              <a:rPr lang="en" sz="1435">
                <a:solidFill>
                  <a:schemeClr val="dk1"/>
                </a:solidFill>
              </a:rPr>
              <a:t>: The encoder receives an input and builds a representation of it (its features). This means that the model is optimized to acquire understanding from the input. </a:t>
            </a:r>
            <a:br>
              <a:rPr lang="en" sz="1435">
                <a:solidFill>
                  <a:schemeClr val="dk1"/>
                </a:solidFill>
              </a:rPr>
            </a:br>
            <a:endParaRPr sz="1435">
              <a:solidFill>
                <a:schemeClr val="dk1"/>
              </a:solidFill>
            </a:endParaRPr>
          </a:p>
          <a:p>
            <a:pPr indent="-319722" lvl="0" marL="457200" rtl="0" algn="l">
              <a:lnSpc>
                <a:spcPct val="95000"/>
              </a:lnSpc>
              <a:spcBef>
                <a:spcPts val="0"/>
              </a:spcBef>
              <a:spcAft>
                <a:spcPts val="0"/>
              </a:spcAft>
              <a:buClr>
                <a:schemeClr val="dk1"/>
              </a:buClr>
              <a:buSzPts val="1435"/>
              <a:buChar char="●"/>
            </a:pPr>
            <a:r>
              <a:rPr b="1" lang="en" sz="1435">
                <a:solidFill>
                  <a:schemeClr val="dk1"/>
                </a:solidFill>
              </a:rPr>
              <a:t>Decoder (right)</a:t>
            </a:r>
            <a:r>
              <a:rPr lang="en" sz="1435">
                <a:solidFill>
                  <a:schemeClr val="dk1"/>
                </a:solidFill>
              </a:rPr>
              <a:t>: The decoder uses the encoder’s representation (features) along with other inputs to generate a target sequence. This means that the model is optimized for generating outputs.</a:t>
            </a:r>
            <a:br>
              <a:rPr lang="en" sz="1435">
                <a:solidFill>
                  <a:schemeClr val="dk1"/>
                </a:solidFill>
              </a:rPr>
            </a:br>
            <a:endParaRPr sz="1435">
              <a:solidFill>
                <a:schemeClr val="dk1"/>
              </a:solidFill>
            </a:endParaRPr>
          </a:p>
          <a:p>
            <a:pPr indent="-319722" lvl="0" marL="457200" rtl="0" algn="l">
              <a:lnSpc>
                <a:spcPct val="95000"/>
              </a:lnSpc>
              <a:spcBef>
                <a:spcPts val="0"/>
              </a:spcBef>
              <a:spcAft>
                <a:spcPts val="0"/>
              </a:spcAft>
              <a:buClr>
                <a:schemeClr val="dk1"/>
              </a:buClr>
              <a:buSzPts val="1435"/>
              <a:buChar char="●"/>
            </a:pPr>
            <a:r>
              <a:rPr b="1" lang="en" sz="1435">
                <a:solidFill>
                  <a:schemeClr val="dk1"/>
                </a:solidFill>
              </a:rPr>
              <a:t>Encoder-only models</a:t>
            </a:r>
            <a:r>
              <a:rPr lang="en" sz="1435">
                <a:solidFill>
                  <a:schemeClr val="dk1"/>
                </a:solidFill>
              </a:rPr>
              <a:t>: Good for tasks that require understanding of the input, such as sentence classification and named entity recognition. ex BERT</a:t>
            </a:r>
            <a:br>
              <a:rPr lang="en" sz="1435">
                <a:solidFill>
                  <a:schemeClr val="dk1"/>
                </a:solidFill>
              </a:rPr>
            </a:br>
            <a:endParaRPr sz="1435">
              <a:solidFill>
                <a:schemeClr val="dk1"/>
              </a:solidFill>
            </a:endParaRPr>
          </a:p>
          <a:p>
            <a:pPr indent="-319722" lvl="0" marL="457200" rtl="0" algn="l">
              <a:lnSpc>
                <a:spcPct val="95000"/>
              </a:lnSpc>
              <a:spcBef>
                <a:spcPts val="0"/>
              </a:spcBef>
              <a:spcAft>
                <a:spcPts val="0"/>
              </a:spcAft>
              <a:buClr>
                <a:schemeClr val="dk1"/>
              </a:buClr>
              <a:buSzPts val="1435"/>
              <a:buChar char="●"/>
            </a:pPr>
            <a:r>
              <a:rPr b="1" lang="en" sz="1435">
                <a:solidFill>
                  <a:schemeClr val="dk1"/>
                </a:solidFill>
              </a:rPr>
              <a:t>Decoder-only models</a:t>
            </a:r>
            <a:r>
              <a:rPr lang="en" sz="1435">
                <a:solidFill>
                  <a:schemeClr val="dk1"/>
                </a:solidFill>
              </a:rPr>
              <a:t>: Good for generative tasks such as text generation, GPT</a:t>
            </a:r>
            <a:br>
              <a:rPr lang="en" sz="1435">
                <a:solidFill>
                  <a:schemeClr val="dk1"/>
                </a:solidFill>
              </a:rPr>
            </a:br>
            <a:endParaRPr sz="1435">
              <a:solidFill>
                <a:schemeClr val="dk1"/>
              </a:solidFill>
            </a:endParaRPr>
          </a:p>
          <a:p>
            <a:pPr indent="-319722" lvl="0" marL="457200" rtl="0" algn="l">
              <a:lnSpc>
                <a:spcPct val="95000"/>
              </a:lnSpc>
              <a:spcBef>
                <a:spcPts val="0"/>
              </a:spcBef>
              <a:spcAft>
                <a:spcPts val="0"/>
              </a:spcAft>
              <a:buClr>
                <a:schemeClr val="dk1"/>
              </a:buClr>
              <a:buSzPts val="1435"/>
              <a:buChar char="●"/>
            </a:pPr>
            <a:r>
              <a:rPr b="1" lang="en" sz="1435">
                <a:solidFill>
                  <a:schemeClr val="dk1"/>
                </a:solidFill>
              </a:rPr>
              <a:t>Encoder-decoder models</a:t>
            </a:r>
            <a:r>
              <a:rPr lang="en" sz="1435">
                <a:solidFill>
                  <a:schemeClr val="dk1"/>
                </a:solidFill>
              </a:rPr>
              <a:t> or </a:t>
            </a:r>
            <a:r>
              <a:rPr b="1" lang="en" sz="1435">
                <a:solidFill>
                  <a:schemeClr val="dk1"/>
                </a:solidFill>
              </a:rPr>
              <a:t>sequence-to-sequence models</a:t>
            </a:r>
            <a:r>
              <a:rPr lang="en" sz="1435">
                <a:solidFill>
                  <a:schemeClr val="dk1"/>
                </a:solidFill>
              </a:rPr>
              <a:t>: Good for generative tasks that require an input, such as translation or summarization.</a:t>
            </a:r>
            <a:endParaRPr sz="1435">
              <a:solidFill>
                <a:schemeClr val="dk1"/>
              </a:solidFill>
            </a:endParaRPr>
          </a:p>
          <a:p>
            <a:pPr indent="0" lvl="0" marL="457200" rtl="0" algn="l">
              <a:lnSpc>
                <a:spcPct val="95000"/>
              </a:lnSpc>
              <a:spcBef>
                <a:spcPts val="1200"/>
              </a:spcBef>
              <a:spcAft>
                <a:spcPts val="0"/>
              </a:spcAft>
              <a:buSzPts val="935"/>
              <a:buNone/>
            </a:pPr>
            <a:r>
              <a:rPr lang="en" sz="1435">
                <a:solidFill>
                  <a:schemeClr val="dk1"/>
                </a:solidFill>
              </a:rPr>
              <a:t>For example..</a:t>
            </a:r>
            <a:endParaRPr sz="1435">
              <a:solidFill>
                <a:schemeClr val="dk1"/>
              </a:solidFill>
            </a:endParaRPr>
          </a:p>
          <a:p>
            <a:pPr indent="-319722" lvl="0" marL="457200" rtl="0" algn="l">
              <a:lnSpc>
                <a:spcPct val="95000"/>
              </a:lnSpc>
              <a:spcBef>
                <a:spcPts val="1200"/>
              </a:spcBef>
              <a:spcAft>
                <a:spcPts val="0"/>
              </a:spcAft>
              <a:buClr>
                <a:schemeClr val="dk1"/>
              </a:buClr>
              <a:buSzPts val="1435"/>
              <a:buChar char="-"/>
            </a:pPr>
            <a:r>
              <a:rPr lang="en" sz="1435">
                <a:solidFill>
                  <a:schemeClr val="dk1"/>
                </a:solidFill>
              </a:rPr>
              <a:t>GPT-like (also called </a:t>
            </a:r>
            <a:r>
              <a:rPr i="1" lang="en" sz="1435">
                <a:solidFill>
                  <a:schemeClr val="dk1"/>
                </a:solidFill>
              </a:rPr>
              <a:t>auto-regressive</a:t>
            </a:r>
            <a:r>
              <a:rPr lang="en" sz="1435">
                <a:solidFill>
                  <a:schemeClr val="dk1"/>
                </a:solidFill>
              </a:rPr>
              <a:t>Transformer models)</a:t>
            </a:r>
            <a:endParaRPr sz="1435">
              <a:solidFill>
                <a:schemeClr val="dk1"/>
              </a:solidFill>
            </a:endParaRPr>
          </a:p>
          <a:p>
            <a:pPr indent="-319722" lvl="0" marL="457200" rtl="0" algn="l">
              <a:lnSpc>
                <a:spcPct val="95000"/>
              </a:lnSpc>
              <a:spcBef>
                <a:spcPts val="0"/>
              </a:spcBef>
              <a:spcAft>
                <a:spcPts val="0"/>
              </a:spcAft>
              <a:buClr>
                <a:schemeClr val="dk1"/>
              </a:buClr>
              <a:buSzPts val="1435"/>
              <a:buChar char="-"/>
            </a:pPr>
            <a:r>
              <a:rPr lang="en" sz="1435">
                <a:solidFill>
                  <a:schemeClr val="dk1"/>
                </a:solidFill>
              </a:rPr>
              <a:t>BERT-like (also called </a:t>
            </a:r>
            <a:r>
              <a:rPr i="1" lang="en" sz="1435">
                <a:solidFill>
                  <a:schemeClr val="dk1"/>
                </a:solidFill>
              </a:rPr>
              <a:t>auto-encoding</a:t>
            </a:r>
            <a:r>
              <a:rPr lang="en" sz="1435">
                <a:solidFill>
                  <a:schemeClr val="dk1"/>
                </a:solidFill>
              </a:rPr>
              <a:t>Transformer models)</a:t>
            </a:r>
            <a:endParaRPr sz="1435">
              <a:solidFill>
                <a:schemeClr val="dk1"/>
              </a:solidFill>
            </a:endParaRPr>
          </a:p>
          <a:p>
            <a:pPr indent="-319722" lvl="0" marL="457200" rtl="0" algn="l">
              <a:lnSpc>
                <a:spcPct val="95000"/>
              </a:lnSpc>
              <a:spcBef>
                <a:spcPts val="0"/>
              </a:spcBef>
              <a:spcAft>
                <a:spcPts val="0"/>
              </a:spcAft>
              <a:buClr>
                <a:schemeClr val="dk1"/>
              </a:buClr>
              <a:buSzPts val="1435"/>
              <a:buChar char="-"/>
            </a:pPr>
            <a:r>
              <a:rPr lang="en" sz="1435">
                <a:solidFill>
                  <a:schemeClr val="dk1"/>
                </a:solidFill>
              </a:rPr>
              <a:t>BART/T5-like (also called </a:t>
            </a:r>
            <a:r>
              <a:rPr i="1" lang="en" sz="1435">
                <a:solidFill>
                  <a:schemeClr val="dk1"/>
                </a:solidFill>
              </a:rPr>
              <a:t>sequence-to-sequence</a:t>
            </a:r>
            <a:r>
              <a:rPr lang="en" sz="1435">
                <a:solidFill>
                  <a:schemeClr val="dk1"/>
                </a:solidFill>
              </a:rPr>
              <a:t> Transformer models)</a:t>
            </a:r>
            <a:endParaRPr sz="1435">
              <a:solidFill>
                <a:schemeClr val="dk1"/>
              </a:solidFill>
            </a:endParaRPr>
          </a:p>
          <a:p>
            <a:pPr indent="0" lvl="0" marL="0" rtl="0" algn="l">
              <a:lnSpc>
                <a:spcPct val="95000"/>
              </a:lnSpc>
              <a:spcBef>
                <a:spcPts val="1200"/>
              </a:spcBef>
              <a:spcAft>
                <a:spcPts val="0"/>
              </a:spcAft>
              <a:buSzPts val="935"/>
              <a:buNone/>
            </a:pPr>
            <a:br>
              <a:rPr lang="en" sz="1435">
                <a:solidFill>
                  <a:schemeClr val="dk1"/>
                </a:solidFill>
              </a:rPr>
            </a:br>
            <a:endParaRPr sz="1435">
              <a:solidFill>
                <a:schemeClr val="dk1"/>
              </a:solidFill>
            </a:endParaRPr>
          </a:p>
          <a:p>
            <a:pPr indent="0" lvl="0" marL="0" rtl="0" algn="l">
              <a:lnSpc>
                <a:spcPct val="95000"/>
              </a:lnSpc>
              <a:spcBef>
                <a:spcPts val="1200"/>
              </a:spcBef>
              <a:spcAft>
                <a:spcPts val="1200"/>
              </a:spcAft>
              <a:buSzPts val="935"/>
              <a:buNone/>
            </a:pPr>
            <a:r>
              <a:t/>
            </a:r>
            <a:endParaRPr sz="2029"/>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4" name="Google Shape;254;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5" name="Google Shape;255;p44"/>
          <p:cNvPicPr preferRelativeResize="0"/>
          <p:nvPr/>
        </p:nvPicPr>
        <p:blipFill>
          <a:blip r:embed="rId3">
            <a:alphaModFix/>
          </a:blip>
          <a:stretch>
            <a:fillRect/>
          </a:stretch>
        </p:blipFill>
        <p:spPr>
          <a:xfrm>
            <a:off x="0" y="76168"/>
            <a:ext cx="9144001" cy="499116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Okay what is a Language Model…</a:t>
            </a:r>
            <a:endParaRPr/>
          </a:p>
        </p:txBody>
      </p:sp>
      <p:sp>
        <p:nvSpPr>
          <p:cNvPr id="261" name="Google Shape;261;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Probability distribution over sequence of tokens/words p(x1… xn)</a:t>
            </a:r>
            <a:endParaRPr/>
          </a:p>
          <a:p>
            <a:pPr indent="-342900" lvl="0" marL="457200" rtl="0" algn="l">
              <a:spcBef>
                <a:spcPts val="0"/>
              </a:spcBef>
              <a:spcAft>
                <a:spcPts val="0"/>
              </a:spcAft>
              <a:buSzPts val="1800"/>
              <a:buChar char="-"/>
            </a:pPr>
            <a:r>
              <a:rPr lang="en"/>
              <a:t>Autogregressive in nature..</a:t>
            </a:r>
            <a:endParaRPr/>
          </a:p>
          <a:p>
            <a:pPr indent="-374650" lvl="0" marL="457200" rtl="0" algn="l">
              <a:spcBef>
                <a:spcPts val="0"/>
              </a:spcBef>
              <a:spcAft>
                <a:spcPts val="0"/>
              </a:spcAft>
              <a:buSzPts val="2300"/>
              <a:buChar char="-"/>
            </a:pPr>
            <a:r>
              <a:rPr lang="en" sz="1600">
                <a:solidFill>
                  <a:schemeClr val="dk1"/>
                </a:solidFill>
              </a:rPr>
              <a:t>Language models can be trained using </a:t>
            </a:r>
            <a:r>
              <a:rPr i="1" lang="en" sz="1600">
                <a:solidFill>
                  <a:schemeClr val="dk1"/>
                </a:solidFill>
              </a:rPr>
              <a:t>self-supervision</a:t>
            </a:r>
            <a:r>
              <a:rPr lang="en" sz="1600">
                <a:solidFill>
                  <a:schemeClr val="dk1"/>
                </a:solidFill>
              </a:rPr>
              <a:t>, each input sequence provides both the labels (tokens to be predicted) and the contexts the model can use to predict these labels</a:t>
            </a:r>
            <a:endParaRPr sz="1600">
              <a:solidFill>
                <a:schemeClr val="dk1"/>
              </a:solidFill>
            </a:endParaRPr>
          </a:p>
          <a:p>
            <a:pPr indent="-298450" lvl="0" marL="457200" rtl="0" algn="l">
              <a:spcBef>
                <a:spcPts val="0"/>
              </a:spcBef>
              <a:spcAft>
                <a:spcPts val="0"/>
              </a:spcAft>
              <a:buClr>
                <a:schemeClr val="dk1"/>
              </a:buClr>
              <a:buSzPts val="1100"/>
              <a:buChar char="-"/>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7" name="Google Shape;267;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8" name="Google Shape;268;p46"/>
          <p:cNvPicPr preferRelativeResize="0"/>
          <p:nvPr/>
        </p:nvPicPr>
        <p:blipFill>
          <a:blip r:embed="rId3">
            <a:alphaModFix/>
          </a:blip>
          <a:stretch>
            <a:fillRect/>
          </a:stretch>
        </p:blipFill>
        <p:spPr>
          <a:xfrm>
            <a:off x="925805" y="689450"/>
            <a:ext cx="6967475" cy="42067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Begging the question… Do LLMs actually ‘understand’?</a:t>
            </a:r>
            <a:endParaRPr/>
          </a:p>
        </p:txBody>
      </p:sp>
      <p:sp>
        <p:nvSpPr>
          <p:cNvPr id="274" name="Google Shape;274;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Yes…</a:t>
            </a:r>
            <a:endParaRPr/>
          </a:p>
        </p:txBody>
      </p:sp>
      <p:sp>
        <p:nvSpPr>
          <p:cNvPr id="280" name="Google Shape;280;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1" name="Google Shape;281;p48"/>
          <p:cNvPicPr preferRelativeResize="0"/>
          <p:nvPr/>
        </p:nvPicPr>
        <p:blipFill>
          <a:blip r:embed="rId3">
            <a:alphaModFix/>
          </a:blip>
          <a:stretch>
            <a:fillRect/>
          </a:stretch>
        </p:blipFill>
        <p:spPr>
          <a:xfrm>
            <a:off x="1982600" y="-3"/>
            <a:ext cx="5722732" cy="51435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50"/>
              <a:t>Emergent Ability'.</a:t>
            </a:r>
            <a:endParaRPr sz="1950"/>
          </a:p>
          <a:p>
            <a:pPr indent="0" lvl="0" marL="0" rtl="0" algn="l">
              <a:spcBef>
                <a:spcPts val="0"/>
              </a:spcBef>
              <a:spcAft>
                <a:spcPts val="0"/>
              </a:spcAft>
              <a:buNone/>
            </a:pPr>
            <a:r>
              <a:t/>
            </a:r>
            <a:endParaRPr sz="1200">
              <a:solidFill>
                <a:srgbClr val="FFFFFF"/>
              </a:solidFill>
              <a:highlight>
                <a:srgbClr val="1B1C1D"/>
              </a:highlight>
            </a:endParaRPr>
          </a:p>
        </p:txBody>
      </p:sp>
      <p:sp>
        <p:nvSpPr>
          <p:cNvPr id="287" name="Google Shape;287;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8" name="Google Shape;288;p49"/>
          <p:cNvPicPr preferRelativeResize="0"/>
          <p:nvPr/>
        </p:nvPicPr>
        <p:blipFill>
          <a:blip r:embed="rId3">
            <a:alphaModFix/>
          </a:blip>
          <a:stretch>
            <a:fillRect/>
          </a:stretch>
        </p:blipFill>
        <p:spPr>
          <a:xfrm>
            <a:off x="2772621" y="1417200"/>
            <a:ext cx="5826974" cy="36043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No….</a:t>
            </a:r>
            <a:endParaRPr/>
          </a:p>
        </p:txBody>
      </p:sp>
      <p:sp>
        <p:nvSpPr>
          <p:cNvPr id="294" name="Google Shape;294;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5" name="Google Shape;295;p50"/>
          <p:cNvPicPr preferRelativeResize="0"/>
          <p:nvPr/>
        </p:nvPicPr>
        <p:blipFill>
          <a:blip r:embed="rId3">
            <a:alphaModFix/>
          </a:blip>
          <a:stretch>
            <a:fillRect/>
          </a:stretch>
        </p:blipFill>
        <p:spPr>
          <a:xfrm>
            <a:off x="840750" y="1152476"/>
            <a:ext cx="7180219" cy="3907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950"/>
              <a:t>'Stochastic Parrots'</a:t>
            </a:r>
            <a:endParaRPr sz="1950"/>
          </a:p>
          <a:p>
            <a:pPr indent="0" lvl="0" marL="0" rtl="0" algn="l">
              <a:spcBef>
                <a:spcPts val="0"/>
              </a:spcBef>
              <a:spcAft>
                <a:spcPts val="0"/>
              </a:spcAft>
              <a:buNone/>
            </a:pPr>
            <a:r>
              <a:t/>
            </a:r>
            <a:endParaRPr sz="1200">
              <a:solidFill>
                <a:srgbClr val="FFFFFF"/>
              </a:solidFill>
              <a:highlight>
                <a:srgbClr val="1B1C1D"/>
              </a:highlight>
            </a:endParaRPr>
          </a:p>
        </p:txBody>
      </p:sp>
      <p:sp>
        <p:nvSpPr>
          <p:cNvPr id="301" name="Google Shape;301;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2" name="Google Shape;302;p51"/>
          <p:cNvPicPr preferRelativeResize="0"/>
          <p:nvPr/>
        </p:nvPicPr>
        <p:blipFill>
          <a:blip r:embed="rId3">
            <a:alphaModFix/>
          </a:blip>
          <a:stretch>
            <a:fillRect/>
          </a:stretch>
        </p:blipFill>
        <p:spPr>
          <a:xfrm>
            <a:off x="4024925" y="345627"/>
            <a:ext cx="4083250" cy="7315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Hallucinations </a:t>
            </a:r>
            <a:endParaRPr/>
          </a:p>
        </p:txBody>
      </p:sp>
      <p:sp>
        <p:nvSpPr>
          <p:cNvPr id="308" name="Google Shape;30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9" name="Google Shape;309;p52"/>
          <p:cNvPicPr preferRelativeResize="0"/>
          <p:nvPr/>
        </p:nvPicPr>
        <p:blipFill>
          <a:blip r:embed="rId3">
            <a:alphaModFix/>
          </a:blip>
          <a:stretch>
            <a:fillRect/>
          </a:stretch>
        </p:blipFill>
        <p:spPr>
          <a:xfrm>
            <a:off x="1638178" y="1297700"/>
            <a:ext cx="6127898" cy="37034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Well idk…</a:t>
            </a:r>
            <a:endParaRPr/>
          </a:p>
        </p:txBody>
      </p:sp>
      <p:sp>
        <p:nvSpPr>
          <p:cNvPr id="315" name="Google Shape;315;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6" name="Google Shape;316;p53"/>
          <p:cNvPicPr preferRelativeResize="0"/>
          <p:nvPr/>
        </p:nvPicPr>
        <p:blipFill>
          <a:blip r:embed="rId3">
            <a:alphaModFix/>
          </a:blip>
          <a:stretch>
            <a:fillRect/>
          </a:stretch>
        </p:blipFill>
        <p:spPr>
          <a:xfrm>
            <a:off x="0" y="2082270"/>
            <a:ext cx="9144001" cy="22450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ph type="title"/>
          </p:nvPr>
        </p:nvSpPr>
        <p:spPr>
          <a:xfrm>
            <a:off x="439400" y="26927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6410"/>
              <a:buFont typeface="Arial"/>
              <a:buNone/>
            </a:pPr>
            <a:r>
              <a:rPr lang="en" sz="1950"/>
              <a:t>Tesler's Law states: 'AI is whatever hasn't been done yet.'...</a:t>
            </a:r>
            <a:endParaRPr sz="1950"/>
          </a:p>
          <a:p>
            <a:pPr indent="0" lvl="0" marL="0" rtl="0" algn="l">
              <a:spcBef>
                <a:spcPts val="0"/>
              </a:spcBef>
              <a:spcAft>
                <a:spcPts val="0"/>
              </a:spcAft>
              <a:buNone/>
            </a:pPr>
            <a:r>
              <a:rPr lang="en" sz="1200">
                <a:solidFill>
                  <a:srgbClr val="FFFFFF"/>
                </a:solidFill>
                <a:highlight>
                  <a:srgbClr val="1B1C1D"/>
                </a:highlight>
              </a:rPr>
              <a:t>..</a:t>
            </a:r>
            <a:endParaRPr sz="1200">
              <a:solidFill>
                <a:srgbClr val="FFFFFF"/>
              </a:solidFill>
              <a:highlight>
                <a:srgbClr val="1B1C1D"/>
              </a:highlight>
            </a:endParaRPr>
          </a:p>
        </p:txBody>
      </p:sp>
      <p:sp>
        <p:nvSpPr>
          <p:cNvPr id="322" name="Google Shape;322;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