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Mon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8d899c8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8d899c8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8d899c8e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8d899c8e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8d899c8e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8d899c8e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8d899c8e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8d899c8e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8d899c8e3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8d899c8e3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8d899c8e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8d899c8e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8d899c8e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8d899c8e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8d899c8e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8d899c8e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8d899c8e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8d899c8e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8d899c8e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8d899c8e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8d899c8e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8d899c8e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8d899c8e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8d899c8e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8d899c8e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8d899c8e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8d899c8e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8d899c8e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8d899c8e3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8d899c8e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8d899c8e3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8d899c8e3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8d899c8e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8d899c8e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8d899c8e3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8d899c8e3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8d899c8e3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8d899c8e3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8d899c8e3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98d899c8e3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8d899c8e3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8d899c8e3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RAGs on RAGs on RAGs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187">
                <a:solidFill>
                  <a:schemeClr val="dk1"/>
                </a:solidFill>
              </a:rPr>
              <a:t>Fact 1 (LLM's 'Prior Knowledge'):</a:t>
            </a:r>
            <a:endParaRPr b="1" sz="1187">
              <a:solidFill>
                <a:schemeClr val="dk1"/>
              </a:solidFill>
            </a:endParaRPr>
          </a:p>
          <a:p>
            <a:pPr indent="-304006" lvl="0" marL="457200" rtl="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88"/>
              <a:buChar char="●"/>
            </a:pPr>
            <a:r>
              <a:rPr lang="en" sz="1187">
                <a:solidFill>
                  <a:schemeClr val="dk1"/>
                </a:solidFill>
              </a:rPr>
              <a:t>"William Shakespeare married Anne Hathaway."  </a:t>
            </a:r>
            <a:endParaRPr sz="118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187">
                <a:solidFill>
                  <a:schemeClr val="dk1"/>
                </a:solidFill>
              </a:rPr>
              <a:t>Fact 2 (New, 'Contextual' Information):</a:t>
            </a:r>
            <a:endParaRPr b="1" sz="1187">
              <a:solidFill>
                <a:schemeClr val="dk1"/>
              </a:solidFill>
            </a:endParaRPr>
          </a:p>
          <a:p>
            <a:pPr indent="-304006" lvl="0" marL="457200" rtl="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88"/>
              <a:buChar char="●"/>
            </a:pPr>
            <a:r>
              <a:rPr lang="en" sz="1187">
                <a:solidFill>
                  <a:schemeClr val="dk1"/>
                </a:solidFill>
              </a:rPr>
              <a:t>"Abraham Shakespeare was a Florida lottery winner in 2006."  </a:t>
            </a:r>
            <a:endParaRPr sz="118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187">
                <a:solidFill>
                  <a:schemeClr val="dk1"/>
                </a:solidFill>
              </a:rPr>
              <a:t>The Test:</a:t>
            </a:r>
            <a:endParaRPr b="1" sz="1187">
              <a:solidFill>
                <a:schemeClr val="dk1"/>
              </a:solidFill>
            </a:endParaRPr>
          </a:p>
          <a:p>
            <a:pPr indent="-304006" lvl="0" marL="457200" rtl="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88"/>
              <a:buChar char="●"/>
            </a:pPr>
            <a:r>
              <a:rPr b="1" lang="en" sz="1187">
                <a:solidFill>
                  <a:schemeClr val="dk1"/>
                </a:solidFill>
              </a:rPr>
              <a:t>Query:</a:t>
            </a:r>
            <a:r>
              <a:rPr lang="en" sz="1187">
                <a:solidFill>
                  <a:schemeClr val="dk1"/>
                </a:solidFill>
              </a:rPr>
              <a:t> "Given the context information and not prior knowledge, answer the query. Query: Who was Shakespeare's wife?"  </a:t>
            </a:r>
            <a:endParaRPr sz="118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187">
                <a:solidFill>
                  <a:schemeClr val="dk1"/>
                </a:solidFill>
              </a:rPr>
              <a:t>The Result:</a:t>
            </a:r>
            <a:endParaRPr b="1" sz="1187">
              <a:solidFill>
                <a:schemeClr val="dk1"/>
              </a:solidFill>
            </a:endParaRPr>
          </a:p>
          <a:p>
            <a:pPr indent="-30400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88"/>
              <a:buChar char="●"/>
            </a:pPr>
            <a:r>
              <a:rPr b="1" lang="en" sz="1187">
                <a:solidFill>
                  <a:schemeClr val="dk1"/>
                </a:solidFill>
              </a:rPr>
              <a:t>Failure (Hallucination):</a:t>
            </a:r>
            <a:r>
              <a:rPr lang="en" sz="1187">
                <a:solidFill>
                  <a:schemeClr val="dk1"/>
                </a:solidFill>
              </a:rPr>
              <a:t> "Anne Hathaway."</a:t>
            </a:r>
            <a:endParaRPr sz="1187">
              <a:solidFill>
                <a:schemeClr val="dk1"/>
              </a:solidFill>
            </a:endParaRPr>
          </a:p>
          <a:p>
            <a:pPr indent="-30400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8"/>
              <a:buChar char="●"/>
            </a:pPr>
            <a:r>
              <a:rPr b="1" lang="en" sz="1187">
                <a:solidFill>
                  <a:schemeClr val="dk1"/>
                </a:solidFill>
              </a:rPr>
              <a:t>Success (Grounded Answer):</a:t>
            </a:r>
            <a:r>
              <a:rPr lang="en" sz="1187">
                <a:solidFill>
                  <a:schemeClr val="dk1"/>
                </a:solidFill>
              </a:rPr>
              <a:t> "I don't know / The context does not contain that information."</a:t>
            </a:r>
            <a:endParaRPr sz="118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62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2: Context Windows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But </a:t>
            </a:r>
            <a:r>
              <a:rPr lang="en" sz="1500">
                <a:solidFill>
                  <a:schemeClr val="dk1"/>
                </a:solidFill>
              </a:rPr>
              <a:t> "Models have 1-million-token windows. Why not just </a:t>
            </a:r>
            <a:r>
              <a:rPr i="1" lang="en" sz="1500">
                <a:solidFill>
                  <a:schemeClr val="dk1"/>
                </a:solidFill>
              </a:rPr>
              <a:t>stuff</a:t>
            </a:r>
            <a:r>
              <a:rPr lang="en" sz="1500">
                <a:solidFill>
                  <a:schemeClr val="dk1"/>
                </a:solidFill>
              </a:rPr>
              <a:t> our entire document into the prompt every time?"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b="1" lang="en" sz="1100">
                <a:solidFill>
                  <a:schemeClr val="dk1"/>
                </a:solidFill>
              </a:rPr>
              <a:t>Cost:</a:t>
            </a:r>
            <a:r>
              <a:rPr lang="en" sz="1100">
                <a:solidFill>
                  <a:schemeClr val="dk1"/>
                </a:solidFill>
              </a:rPr>
              <a:t> Processing 1M tokens is </a:t>
            </a:r>
            <a:r>
              <a:rPr i="1" lang="en" sz="1100">
                <a:solidFill>
                  <a:schemeClr val="dk1"/>
                </a:solidFill>
              </a:rPr>
              <a:t>hundreds</a:t>
            </a:r>
            <a:r>
              <a:rPr lang="en" sz="1100">
                <a:solidFill>
                  <a:schemeClr val="dk1"/>
                </a:solidFill>
              </a:rPr>
              <a:t> of times more expensive than a 1K RAG prompt. It is financially unscalable.</a:t>
            </a:r>
            <a:endParaRPr sz="11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b="1" lang="en" sz="1100">
                <a:solidFill>
                  <a:schemeClr val="dk1"/>
                </a:solidFill>
              </a:rPr>
              <a:t>Latency:</a:t>
            </a:r>
            <a:r>
              <a:rPr lang="en" sz="1100">
                <a:solidFill>
                  <a:schemeClr val="dk1"/>
                </a:solidFill>
              </a:rPr>
              <a:t> It's </a:t>
            </a:r>
            <a:r>
              <a:rPr i="1" lang="en" sz="1100">
                <a:solidFill>
                  <a:schemeClr val="dk1"/>
                </a:solidFill>
              </a:rPr>
              <a:t>slow</a:t>
            </a:r>
            <a:r>
              <a:rPr lang="en" sz="1100">
                <a:solidFill>
                  <a:schemeClr val="dk1"/>
                </a:solidFill>
              </a:rPr>
              <a:t>. The user has to wait 30-60 seconds for the model to "read" the giant prompt before it even starts answering.</a:t>
            </a:r>
            <a:endParaRPr sz="11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b="1" lang="en" sz="1100">
                <a:solidFill>
                  <a:schemeClr val="dk1"/>
                </a:solidFill>
              </a:rPr>
              <a:t>The "Lost in the Middle" Problem:</a:t>
            </a:r>
            <a:r>
              <a:rPr lang="en" sz="1100">
                <a:solidFill>
                  <a:schemeClr val="dk1"/>
                </a:solidFill>
              </a:rPr>
              <a:t> LLMs have a "U-shaped" attention curve. They pay attention to the </a:t>
            </a:r>
            <a:r>
              <a:rPr i="1" lang="en" sz="1100">
                <a:solidFill>
                  <a:schemeClr val="dk1"/>
                </a:solidFill>
              </a:rPr>
              <a:t>beginning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i="1" lang="en" sz="1100">
                <a:solidFill>
                  <a:schemeClr val="dk1"/>
                </a:solidFill>
              </a:rPr>
              <a:t>end</a:t>
            </a:r>
            <a:r>
              <a:rPr lang="en" sz="1100">
                <a:solidFill>
                  <a:schemeClr val="dk1"/>
                </a:solidFill>
              </a:rPr>
              <a:t> of a prompt, but </a:t>
            </a:r>
            <a:r>
              <a:rPr i="1" lang="en" sz="1100">
                <a:solidFill>
                  <a:schemeClr val="dk1"/>
                </a:solidFill>
              </a:rPr>
              <a:t>ignore</a:t>
            </a:r>
            <a:r>
              <a:rPr lang="en" sz="1100">
                <a:solidFill>
                  <a:schemeClr val="dk1"/>
                </a:solidFill>
              </a:rPr>
              <a:t> information "stuffed" in the middle.</a:t>
            </a:r>
            <a:endParaRPr sz="11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b="1" lang="en" sz="1100">
                <a:solidFill>
                  <a:schemeClr val="dk1"/>
                </a:solidFill>
              </a:rPr>
              <a:t>Access Control:</a:t>
            </a:r>
            <a:r>
              <a:rPr lang="en" sz="1100">
                <a:solidFill>
                  <a:schemeClr val="dk1"/>
                </a:solidFill>
              </a:rPr>
              <a:t> You </a:t>
            </a:r>
            <a:r>
              <a:rPr i="1" lang="en" sz="1100">
                <a:solidFill>
                  <a:schemeClr val="dk1"/>
                </a:solidFill>
              </a:rPr>
              <a:t>cannot</a:t>
            </a:r>
            <a:r>
              <a:rPr lang="en" sz="1100">
                <a:solidFill>
                  <a:schemeClr val="dk1"/>
                </a:solidFill>
              </a:rPr>
              <a:t> enforce user permissions. RAG </a:t>
            </a:r>
            <a:r>
              <a:rPr i="1" lang="en" sz="1100">
                <a:solidFill>
                  <a:schemeClr val="dk1"/>
                </a:solidFill>
              </a:rPr>
              <a:t>is</a:t>
            </a:r>
            <a:r>
              <a:rPr lang="en" sz="1100">
                <a:solidFill>
                  <a:schemeClr val="dk1"/>
                </a:solidFill>
              </a:rPr>
              <a:t> your security layer; the retriever only returns chunks the user is allowed to see.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932300" y="75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RAG = "Open-Book Exam"...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9300" y="2734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100">
                <a:solidFill>
                  <a:schemeClr val="dk1"/>
                </a:solidFill>
              </a:rPr>
              <a:t>…when asked a question, it first goes to a </a:t>
            </a:r>
            <a:r>
              <a:rPr b="1" lang="en" sz="1100">
                <a:solidFill>
                  <a:schemeClr val="dk1"/>
                </a:solidFill>
              </a:rPr>
              <a:t>library</a:t>
            </a:r>
            <a:r>
              <a:rPr lang="en" sz="1100">
                <a:solidFill>
                  <a:schemeClr val="dk1"/>
                </a:solidFill>
              </a:rPr>
              <a:t> (Vector DB).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100">
                <a:solidFill>
                  <a:schemeClr val="dk1"/>
                </a:solidFill>
              </a:rPr>
              <a:t>It finds the </a:t>
            </a:r>
            <a:r>
              <a:rPr b="1" lang="en" sz="1100">
                <a:solidFill>
                  <a:schemeClr val="dk1"/>
                </a:solidFill>
              </a:rPr>
              <a:t>exact right page</a:t>
            </a:r>
            <a:r>
              <a:rPr lang="en" sz="1100">
                <a:solidFill>
                  <a:schemeClr val="dk1"/>
                </a:solidFill>
              </a:rPr>
              <a:t> (retrieval).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It then writes an answer based </a:t>
            </a:r>
            <a:r>
              <a:rPr i="1" lang="en" sz="1100">
                <a:solidFill>
                  <a:schemeClr val="dk1"/>
                </a:solidFill>
              </a:rPr>
              <a:t>only</a:t>
            </a:r>
            <a:r>
              <a:rPr lang="en" sz="1100">
                <a:solidFill>
                  <a:schemeClr val="dk1"/>
                </a:solidFill>
              </a:rPr>
              <a:t> on the facts on that page (generation).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4" name="Google Shape;74;p16"/>
          <p:cNvSpPr txBox="1"/>
          <p:nvPr>
            <p:ph type="title"/>
          </p:nvPr>
        </p:nvSpPr>
        <p:spPr>
          <a:xfrm>
            <a:off x="9323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process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User Query: "What is our remote work policy?" 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Query Embedding: The query is "embedded" (turned into a vector of numbers) by an embedding model. 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Vector Search: The query vector is used to search a </a:t>
            </a:r>
            <a:r>
              <a:rPr b="1" lang="en" sz="1100">
                <a:solidFill>
                  <a:schemeClr val="dk1"/>
                </a:solidFill>
              </a:rPr>
              <a:t>Vector Database</a:t>
            </a:r>
            <a:r>
              <a:rPr lang="en" sz="1100">
                <a:solidFill>
                  <a:schemeClr val="dk1"/>
                </a:solidFill>
              </a:rPr>
              <a:t>. The database returns the "Top-K" (e.g., top 5) most semantically similar text </a:t>
            </a:r>
            <a:r>
              <a:rPr i="1" lang="en" sz="1100">
                <a:solidFill>
                  <a:schemeClr val="dk1"/>
                </a:solidFill>
              </a:rPr>
              <a:t>chunks</a:t>
            </a:r>
            <a:r>
              <a:rPr lang="en" sz="1100">
                <a:solidFill>
                  <a:schemeClr val="dk1"/>
                </a:solidFill>
              </a:rPr>
              <a:t>. 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Augment Prompt: The system </a:t>
            </a:r>
            <a:r>
              <a:rPr i="1" lang="en" sz="1100">
                <a:solidFill>
                  <a:schemeClr val="dk1"/>
                </a:solidFill>
              </a:rPr>
              <a:t>builds a new prompt</a:t>
            </a:r>
            <a:r>
              <a:rPr lang="en" sz="1100">
                <a:solidFill>
                  <a:schemeClr val="dk1"/>
                </a:solidFill>
              </a:rPr>
              <a:t> template: 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"Context: [Paste the 5 retrieved text chunks here]...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Query: [Paste the user's query here]...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Answer:"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LLM Generation: The LLM </a:t>
            </a:r>
            <a:r>
              <a:rPr i="1" lang="en" sz="1100">
                <a:solidFill>
                  <a:schemeClr val="dk1"/>
                </a:solidFill>
              </a:rPr>
              <a:t>only</a:t>
            </a:r>
            <a:r>
              <a:rPr lang="en" sz="1100">
                <a:solidFill>
                  <a:schemeClr val="dk1"/>
                </a:solidFill>
              </a:rPr>
              <a:t> sees this new, "augmented" prompt and generates an answer based on the provided context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528" y="0"/>
            <a:ext cx="470294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Ingestion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... Why We </a:t>
            </a:r>
            <a:r>
              <a:rPr i="1" lang="en" sz="1900"/>
              <a:t>Must</a:t>
            </a:r>
            <a:r>
              <a:rPr lang="en" sz="1900"/>
              <a:t> Split (Chunking)</a:t>
            </a:r>
            <a:endParaRPr sz="3600"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1100">
                <a:solidFill>
                  <a:schemeClr val="dk1"/>
                </a:solidFill>
              </a:rPr>
              <a:t>The Problem:</a:t>
            </a:r>
            <a:r>
              <a:rPr lang="en" sz="1100">
                <a:solidFill>
                  <a:schemeClr val="dk1"/>
                </a:solidFill>
              </a:rPr>
              <a:t> We now have a 30,000-word document. We </a:t>
            </a:r>
            <a:r>
              <a:rPr i="1" lang="en" sz="1100">
                <a:solidFill>
                  <a:schemeClr val="dk1"/>
                </a:solidFill>
              </a:rPr>
              <a:t>cannot</a:t>
            </a:r>
            <a:r>
              <a:rPr lang="en" sz="1100">
                <a:solidFill>
                  <a:schemeClr val="dk1"/>
                </a:solidFill>
              </a:rPr>
              <a:t> embed this all at once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We need a "Goldilocks" size: small enough to be precise, big enough to hold context.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Chunking strategies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1. Fixed-Size Chunking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 sz="1100">
                <a:solidFill>
                  <a:schemeClr val="dk1"/>
                </a:solidFill>
              </a:rPr>
              <a:t>How:</a:t>
            </a:r>
            <a:r>
              <a:rPr lang="en" sz="1100">
                <a:solidFill>
                  <a:schemeClr val="dk1"/>
                </a:solidFill>
              </a:rPr>
              <a:t> "Split every 512 tokens."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 sz="1100">
                <a:solidFill>
                  <a:schemeClr val="dk1"/>
                </a:solidFill>
              </a:rPr>
              <a:t>Pro:</a:t>
            </a:r>
            <a:r>
              <a:rPr lang="en" sz="1100">
                <a:solidFill>
                  <a:schemeClr val="dk1"/>
                </a:solidFill>
              </a:rPr>
              <a:t> Simple, fast.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 sz="1100">
                <a:solidFill>
                  <a:schemeClr val="dk1"/>
                </a:solidFill>
              </a:rPr>
              <a:t>Con:</a:t>
            </a:r>
            <a:r>
              <a:rPr lang="en" sz="1100">
                <a:solidFill>
                  <a:schemeClr val="dk1"/>
                </a:solidFill>
              </a:rPr>
              <a:t> "Dumb." Can cut a sentence or paragraph in half. (We use 'overlap' to help fix this).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2. Content-Aware Chunking</a:t>
            </a:r>
            <a:r>
              <a:rPr lang="en" sz="1100">
                <a:solidFill>
                  <a:schemeClr val="dk1"/>
                </a:solidFill>
              </a:rPr>
              <a:t> 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 sz="1100">
                <a:solidFill>
                  <a:schemeClr val="dk1"/>
                </a:solidFill>
              </a:rPr>
              <a:t>How:</a:t>
            </a:r>
            <a:r>
              <a:rPr lang="en" sz="1100">
                <a:solidFill>
                  <a:schemeClr val="dk1"/>
                </a:solidFill>
              </a:rPr>
              <a:t> "Split on natural boundaries."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 sz="1100">
                <a:solidFill>
                  <a:schemeClr val="dk1"/>
                </a:solidFill>
              </a:rPr>
              <a:t>Examples:</a:t>
            </a:r>
            <a:r>
              <a:rPr lang="en" sz="1100">
                <a:solidFill>
                  <a:schemeClr val="dk1"/>
                </a:solidFill>
              </a:rPr>
              <a:t> Split by paragraph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\n\n</a:t>
            </a:r>
            <a:r>
              <a:rPr lang="en" sz="1100">
                <a:solidFill>
                  <a:schemeClr val="dk1"/>
                </a:solidFill>
              </a:rPr>
              <a:t>), split by section headings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##</a:t>
            </a:r>
            <a:r>
              <a:rPr lang="en" sz="1100">
                <a:solidFill>
                  <a:schemeClr val="dk1"/>
                </a:solidFill>
              </a:rPr>
              <a:t>), split by punctuation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3. Recursive Chunking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 sz="1100">
                <a:solidFill>
                  <a:schemeClr val="dk1"/>
                </a:solidFill>
              </a:rPr>
              <a:t>How:</a:t>
            </a:r>
            <a:r>
              <a:rPr lang="en" sz="1100">
                <a:solidFill>
                  <a:schemeClr val="dk1"/>
                </a:solidFill>
              </a:rPr>
              <a:t> The "best-of-both" approach.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Tries a list of separators in order of preference: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First, try to split by paragraph.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If a chunk is </a:t>
            </a:r>
            <a:r>
              <a:rPr i="1" lang="en" sz="1100">
                <a:solidFill>
                  <a:schemeClr val="dk1"/>
                </a:solidFill>
              </a:rPr>
              <a:t>still</a:t>
            </a:r>
            <a:r>
              <a:rPr lang="en" sz="1100">
                <a:solidFill>
                  <a:schemeClr val="dk1"/>
                </a:solidFill>
              </a:rPr>
              <a:t> too big, split </a:t>
            </a:r>
            <a:r>
              <a:rPr i="1" lang="en" sz="1100">
                <a:solidFill>
                  <a:schemeClr val="dk1"/>
                </a:solidFill>
              </a:rPr>
              <a:t>that chunk</a:t>
            </a:r>
            <a:r>
              <a:rPr lang="en" sz="1100">
                <a:solidFill>
                  <a:schemeClr val="dk1"/>
                </a:solidFill>
              </a:rPr>
              <a:t> by sentence.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If it's </a:t>
            </a:r>
            <a:r>
              <a:rPr i="1" lang="en" sz="1100">
                <a:solidFill>
                  <a:schemeClr val="dk1"/>
                </a:solidFill>
              </a:rPr>
              <a:t>still</a:t>
            </a:r>
            <a:r>
              <a:rPr lang="en" sz="1100">
                <a:solidFill>
                  <a:schemeClr val="dk1"/>
                </a:solidFill>
              </a:rPr>
              <a:t> too big, split by space.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/>
              <a:t>The Vector Database</a:t>
            </a:r>
            <a:endParaRPr sz="3600"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What is it?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 specialized "library for numbers".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What is its job?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1. Store:</a:t>
            </a:r>
            <a:r>
              <a:rPr lang="en" sz="1100">
                <a:solidFill>
                  <a:schemeClr val="dk1"/>
                </a:solidFill>
              </a:rPr>
              <a:t> Billions of high-dimensional vectors (our text chunk 'coordinates').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2. Search:</a:t>
            </a:r>
            <a:r>
              <a:rPr lang="en" sz="1100">
                <a:solidFill>
                  <a:schemeClr val="dk1"/>
                </a:solidFill>
              </a:rPr>
              <a:t> When given a new </a:t>
            </a:r>
            <a:r>
              <a:rPr i="1" lang="en" sz="1100">
                <a:solidFill>
                  <a:schemeClr val="dk1"/>
                </a:solidFill>
              </a:rPr>
              <a:t>query vector</a:t>
            </a:r>
            <a:r>
              <a:rPr lang="en" sz="1100">
                <a:solidFill>
                  <a:schemeClr val="dk1"/>
                </a:solidFill>
              </a:rPr>
              <a:t>, find the "nearest neighbors" (the most similar vectors) in milliseconds.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RAG vs FineTuning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Fine-Tuning: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 sz="1100">
                <a:solidFill>
                  <a:schemeClr val="dk1"/>
                </a:solidFill>
              </a:rPr>
              <a:t>What it is:</a:t>
            </a:r>
            <a:r>
              <a:rPr lang="en" sz="1100">
                <a:solidFill>
                  <a:schemeClr val="dk1"/>
                </a:solidFill>
              </a:rPr>
              <a:t> A </a:t>
            </a:r>
            <a:r>
              <a:rPr b="1" lang="en" sz="1100">
                <a:solidFill>
                  <a:schemeClr val="dk1"/>
                </a:solidFill>
              </a:rPr>
              <a:t>training</a:t>
            </a:r>
            <a:r>
              <a:rPr lang="en" sz="1100">
                <a:solidFill>
                  <a:schemeClr val="dk1"/>
                </a:solidFill>
              </a:rPr>
              <a:t> process. Adjusts the model's internal weights.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 sz="1100">
                <a:solidFill>
                  <a:schemeClr val="dk1"/>
                </a:solidFill>
              </a:rPr>
              <a:t>Analogy:</a:t>
            </a:r>
            <a:r>
              <a:rPr lang="en" sz="1100">
                <a:solidFill>
                  <a:schemeClr val="dk1"/>
                </a:solidFill>
              </a:rPr>
              <a:t> Sending the student to a specialized school.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RAG: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 sz="1100">
                <a:solidFill>
                  <a:schemeClr val="dk1"/>
                </a:solidFill>
              </a:rPr>
              <a:t>What it is:</a:t>
            </a:r>
            <a:r>
              <a:rPr lang="en" sz="1100">
                <a:solidFill>
                  <a:schemeClr val="dk1"/>
                </a:solidFill>
              </a:rPr>
              <a:t> An </a:t>
            </a:r>
            <a:r>
              <a:rPr b="1" lang="en" sz="1100">
                <a:solidFill>
                  <a:schemeClr val="dk1"/>
                </a:solidFill>
              </a:rPr>
              <a:t>inference</a:t>
            </a:r>
            <a:r>
              <a:rPr lang="en" sz="1100">
                <a:solidFill>
                  <a:schemeClr val="dk1"/>
                </a:solidFill>
              </a:rPr>
              <a:t> process. Does </a:t>
            </a:r>
            <a:r>
              <a:rPr i="1" lang="en" sz="1100">
                <a:solidFill>
                  <a:schemeClr val="dk1"/>
                </a:solidFill>
              </a:rPr>
              <a:t>not</a:t>
            </a:r>
            <a:r>
              <a:rPr lang="en" sz="1100">
                <a:solidFill>
                  <a:schemeClr val="dk1"/>
                </a:solidFill>
              </a:rPr>
              <a:t> change the model's weights. 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 sz="1100">
                <a:solidFill>
                  <a:schemeClr val="dk1"/>
                </a:solidFill>
              </a:rPr>
              <a:t>Analogy:</a:t>
            </a:r>
            <a:r>
              <a:rPr lang="en" sz="1100">
                <a:solidFill>
                  <a:schemeClr val="dk1"/>
                </a:solidFill>
              </a:rPr>
              <a:t> Giving the student an open book or library card.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Golden Rule: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 </a:t>
            </a:r>
            <a:r>
              <a:rPr b="1" lang="en" sz="1100">
                <a:solidFill>
                  <a:schemeClr val="dk1"/>
                </a:solidFill>
              </a:rPr>
              <a:t>RAG</a:t>
            </a:r>
            <a:r>
              <a:rPr lang="en" sz="1100">
                <a:solidFill>
                  <a:schemeClr val="dk1"/>
                </a:solidFill>
              </a:rPr>
              <a:t> to teach your AI </a:t>
            </a:r>
            <a:r>
              <a:rPr b="1" lang="en" sz="1100">
                <a:solidFill>
                  <a:schemeClr val="dk1"/>
                </a:solidFill>
              </a:rPr>
              <a:t>WHAT</a:t>
            </a:r>
            <a:r>
              <a:rPr lang="en" sz="1100">
                <a:solidFill>
                  <a:schemeClr val="dk1"/>
                </a:solidFill>
              </a:rPr>
              <a:t> to say (Knowledge).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 </a:t>
            </a:r>
            <a:r>
              <a:rPr b="1" lang="en" sz="1100">
                <a:solidFill>
                  <a:schemeClr val="dk1"/>
                </a:solidFill>
              </a:rPr>
              <a:t>Fine-Tuning</a:t>
            </a:r>
            <a:r>
              <a:rPr lang="en" sz="1100">
                <a:solidFill>
                  <a:schemeClr val="dk1"/>
                </a:solidFill>
              </a:rPr>
              <a:t> to teach your AI </a:t>
            </a:r>
            <a:r>
              <a:rPr b="1" lang="en" sz="1100">
                <a:solidFill>
                  <a:schemeClr val="dk1"/>
                </a:solidFill>
              </a:rPr>
              <a:t>HOW</a:t>
            </a:r>
            <a:r>
              <a:rPr lang="en" sz="1100">
                <a:solidFill>
                  <a:schemeClr val="dk1"/>
                </a:solidFill>
              </a:rPr>
              <a:t> to say it (Style/Behavior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4743"/>
            <a:ext cx="9144002" cy="4214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-&gt; Advanced (Fancy) RAG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Problem 1: Retrieval Quality (Low Precision)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"Garbage in, garbage out." Retrieving 3 </a:t>
            </a:r>
            <a:r>
              <a:rPr i="1" lang="en" sz="1100">
                <a:solidFill>
                  <a:schemeClr val="dk1"/>
                </a:solidFill>
              </a:rPr>
              <a:t>irrelevant</a:t>
            </a:r>
            <a:r>
              <a:rPr lang="en" sz="1100">
                <a:solidFill>
                  <a:schemeClr val="dk1"/>
                </a:solidFill>
              </a:rPr>
              <a:t> chunks confuses the LLM. 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Problem 2: Response Generation Quality (Misinformation)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LLM "fabricates answers without sufficient context". It gets the right chunk but still misinterprets it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Pre-Retrieval: Optimizing the Query (HyDE)</a:t>
            </a:r>
            <a:endParaRPr/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Take the query: "What is HyDE?"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i="1" lang="en" sz="1100">
                <a:solidFill>
                  <a:schemeClr val="dk1"/>
                </a:solidFill>
              </a:rPr>
              <a:t>First</a:t>
            </a:r>
            <a:r>
              <a:rPr lang="en" sz="1100">
                <a:solidFill>
                  <a:schemeClr val="dk1"/>
                </a:solidFill>
              </a:rPr>
              <a:t>, ask the LLM to generate a </a:t>
            </a:r>
            <a:r>
              <a:rPr b="1" lang="en" sz="1100">
                <a:solidFill>
                  <a:schemeClr val="dk1"/>
                </a:solidFill>
              </a:rPr>
              <a:t>fake, hypothetical answer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This fake answer is a </a:t>
            </a:r>
            <a:r>
              <a:rPr i="1" lang="en" sz="1100">
                <a:solidFill>
                  <a:schemeClr val="dk1"/>
                </a:solidFill>
              </a:rPr>
              <a:t>hallucination</a:t>
            </a:r>
            <a:r>
              <a:rPr lang="en" sz="1100">
                <a:solidFill>
                  <a:schemeClr val="dk1"/>
                </a:solidFill>
              </a:rPr>
              <a:t>, but it's semantically "dense."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Embed the </a:t>
            </a:r>
            <a:r>
              <a:rPr b="1" i="1" lang="en" sz="1100">
                <a:solidFill>
                  <a:schemeClr val="dk1"/>
                </a:solidFill>
              </a:rPr>
              <a:t>fake answer</a:t>
            </a:r>
            <a:r>
              <a:rPr lang="en" sz="1100">
                <a:solidFill>
                  <a:schemeClr val="dk1"/>
                </a:solidFill>
              </a:rPr>
              <a:t> and use </a:t>
            </a:r>
            <a:r>
              <a:rPr i="1" lang="en" sz="1100">
                <a:solidFill>
                  <a:schemeClr val="dk1"/>
                </a:solidFill>
              </a:rPr>
              <a:t>that</a:t>
            </a:r>
            <a:r>
              <a:rPr lang="en" sz="1100">
                <a:solidFill>
                  <a:schemeClr val="dk1"/>
                </a:solidFill>
              </a:rPr>
              <a:t> vector for the search.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This "answer-to-answer" search is far more accurate.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Basically </a:t>
            </a:r>
            <a:r>
              <a:rPr b="1" lang="en" sz="1100" u="sng">
                <a:solidFill>
                  <a:schemeClr val="dk1"/>
                </a:solidFill>
              </a:rPr>
              <a:t>Search for what the </a:t>
            </a:r>
            <a:r>
              <a:rPr b="1" i="1" lang="en" sz="1100" u="sng">
                <a:solidFill>
                  <a:schemeClr val="dk1"/>
                </a:solidFill>
              </a:rPr>
              <a:t>perfect answer</a:t>
            </a:r>
            <a:r>
              <a:rPr b="1" lang="en" sz="1100" u="sng">
                <a:solidFill>
                  <a:schemeClr val="dk1"/>
                </a:solidFill>
              </a:rPr>
              <a:t> would look like, not the </a:t>
            </a:r>
            <a:r>
              <a:rPr b="1" i="1" lang="en" sz="1100" u="sng">
                <a:solidFill>
                  <a:schemeClr val="dk1"/>
                </a:solidFill>
              </a:rPr>
              <a:t>question</a:t>
            </a:r>
            <a:r>
              <a:rPr b="1" lang="en" sz="1100" u="sng">
                <a:solidFill>
                  <a:schemeClr val="dk1"/>
                </a:solidFill>
              </a:rPr>
              <a:t>.</a:t>
            </a:r>
            <a:endParaRPr b="1" sz="11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Retrieval: Hybrid Search</a:t>
            </a:r>
            <a:endParaRPr/>
          </a:p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Problem: Great for concepts, but It's </a:t>
            </a:r>
            <a:r>
              <a:rPr i="1" lang="en" sz="1100">
                <a:solidFill>
                  <a:schemeClr val="dk1"/>
                </a:solidFill>
              </a:rPr>
              <a:t>terrible</a:t>
            </a:r>
            <a:r>
              <a:rPr lang="en" sz="1100">
                <a:solidFill>
                  <a:schemeClr val="dk1"/>
                </a:solidFill>
              </a:rPr>
              <a:t> for </a:t>
            </a:r>
            <a:r>
              <a:rPr i="1" lang="en" sz="1100">
                <a:solidFill>
                  <a:schemeClr val="dk1"/>
                </a:solidFill>
              </a:rPr>
              <a:t>keywords</a:t>
            </a:r>
            <a:r>
              <a:rPr lang="en" sz="1100">
                <a:solidFill>
                  <a:schemeClr val="dk1"/>
                </a:solidFill>
              </a:rPr>
              <a:t> (product ID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ada-002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Run </a:t>
            </a:r>
            <a:r>
              <a:rPr i="1" lang="en" sz="1100">
                <a:solidFill>
                  <a:schemeClr val="dk1"/>
                </a:solidFill>
              </a:rPr>
              <a:t>two</a:t>
            </a:r>
            <a:r>
              <a:rPr lang="en" sz="1100">
                <a:solidFill>
                  <a:schemeClr val="dk1"/>
                </a:solidFill>
              </a:rPr>
              <a:t> searches in parallel and merge the results: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1. Semantic Search (Dense Vector):</a:t>
            </a:r>
            <a:r>
              <a:rPr lang="en" sz="1100">
                <a:solidFill>
                  <a:schemeClr val="dk1"/>
                </a:solidFill>
              </a:rPr>
              <a:t> Finds what the user </a:t>
            </a:r>
            <a:r>
              <a:rPr i="1" lang="en" sz="1100">
                <a:solidFill>
                  <a:schemeClr val="dk1"/>
                </a:solidFill>
              </a:rPr>
              <a:t>means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e.g., 'How to catch a fish'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2. Keyword Search (Sparse Vector, BM25):</a:t>
            </a:r>
            <a:r>
              <a:rPr lang="en" sz="1100">
                <a:solidFill>
                  <a:schemeClr val="dk1"/>
                </a:solidFill>
              </a:rPr>
              <a:t> Finds the </a:t>
            </a:r>
            <a:r>
              <a:rPr i="1" lang="en" sz="1100">
                <a:solidFill>
                  <a:schemeClr val="dk1"/>
                </a:solidFill>
              </a:rPr>
              <a:t>exact terms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e.g., 'Alaskan Pollock'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1701" y="0"/>
            <a:ext cx="544059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Post-Retrieval: Re-Ranking</a:t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Problem: Our Hybrid Search returned 50 </a:t>
            </a:r>
            <a:r>
              <a:rPr i="1" lang="en" sz="1100">
                <a:solidFill>
                  <a:schemeClr val="dk1"/>
                </a:solidFill>
              </a:rPr>
              <a:t>candidate</a:t>
            </a:r>
            <a:r>
              <a:rPr lang="en" sz="1100">
                <a:solidFill>
                  <a:schemeClr val="dk1"/>
                </a:solidFill>
              </a:rPr>
              <a:t> documents. This is too much "noise" to send to the LLM.</a:t>
            </a:r>
            <a:endParaRPr sz="11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Add a Re-Ranker (Cross-Encoder)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Imagine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100">
                <a:solidFill>
                  <a:schemeClr val="dk1"/>
                </a:solidFill>
              </a:rPr>
              <a:t>Stage 1: Retriever (Fast &amp; Dumb):</a:t>
            </a:r>
            <a:r>
              <a:rPr lang="en" sz="1100">
                <a:solidFill>
                  <a:schemeClr val="dk1"/>
                </a:solidFill>
              </a:rPr>
              <a:t> "Go to the library and bring me the 50 books that </a:t>
            </a:r>
            <a:r>
              <a:rPr i="1" lang="en" sz="1100">
                <a:solidFill>
                  <a:schemeClr val="dk1"/>
                </a:solidFill>
              </a:rPr>
              <a:t>mention</a:t>
            </a:r>
            <a:r>
              <a:rPr lang="en" sz="1100">
                <a:solidFill>
                  <a:schemeClr val="dk1"/>
                </a:solidFill>
              </a:rPr>
              <a:t> 'RAG'." (This is our Hybrid Search).</a:t>
            </a:r>
            <a:endParaRPr sz="11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100">
                <a:solidFill>
                  <a:schemeClr val="dk1"/>
                </a:solidFill>
              </a:rPr>
              <a:t>Stage 2: Re-Ranker (Slow &amp; Smart):</a:t>
            </a:r>
            <a:r>
              <a:rPr lang="en" sz="1100">
                <a:solidFill>
                  <a:schemeClr val="dk1"/>
                </a:solidFill>
              </a:rPr>
              <a:t> "Now, my expert assistant (the Cross-Encoder) will </a:t>
            </a:r>
            <a:r>
              <a:rPr i="1" lang="en" sz="1100">
                <a:solidFill>
                  <a:schemeClr val="dk1"/>
                </a:solidFill>
              </a:rPr>
              <a:t>read all 50 books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i="1" lang="en" sz="1100">
                <a:solidFill>
                  <a:schemeClr val="dk1"/>
                </a:solidFill>
              </a:rPr>
              <a:t>compare them directly</a:t>
            </a:r>
            <a:r>
              <a:rPr lang="en" sz="1100">
                <a:solidFill>
                  <a:schemeClr val="dk1"/>
                </a:solidFill>
              </a:rPr>
              <a:t> to the query, giving each a precise 0-100 relevance score."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Post-Retrieval: Prompt Compression</a:t>
            </a:r>
            <a:endParaRPr/>
          </a:p>
        </p:txBody>
      </p:sp>
      <p:sp>
        <p:nvSpPr>
          <p:cNvPr id="166" name="Google Shape;16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Problem: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Our 5 </a:t>
            </a:r>
            <a:r>
              <a:rPr i="1" lang="en" sz="1100">
                <a:solidFill>
                  <a:schemeClr val="dk1"/>
                </a:solidFill>
              </a:rPr>
              <a:t>perfect</a:t>
            </a:r>
            <a:r>
              <a:rPr lang="en" sz="1100">
                <a:solidFill>
                  <a:schemeClr val="dk1"/>
                </a:solidFill>
              </a:rPr>
              <a:t> chunks are still full of "fluff" and "filler" text that will confuse the LLM. "Noise in retrieved documents can adversely affect RAG performance."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Solution: Prompt Compression (e.g., LLMLingua)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We add </a:t>
            </a:r>
            <a:r>
              <a:rPr i="1" lang="en" sz="1100">
                <a:solidFill>
                  <a:schemeClr val="dk1"/>
                </a:solidFill>
              </a:rPr>
              <a:t>another</a:t>
            </a:r>
            <a:r>
              <a:rPr lang="en" sz="1100">
                <a:solidFill>
                  <a:schemeClr val="dk1"/>
                </a:solidFill>
              </a:rPr>
              <a:t> small model to the pipeline.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Its job: Read the 5 chunks and </a:t>
            </a:r>
            <a:r>
              <a:rPr i="1" lang="en" sz="1100">
                <a:solidFill>
                  <a:schemeClr val="dk1"/>
                </a:solidFill>
              </a:rPr>
              <a:t>remove all unimportant tokens</a:t>
            </a:r>
            <a:r>
              <a:rPr lang="en" sz="1100">
                <a:solidFill>
                  <a:schemeClr val="dk1"/>
                </a:solidFill>
              </a:rPr>
              <a:t> that aren't relevant to the user's query.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0700" y="9525"/>
            <a:ext cx="5562600" cy="512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4800" y="152475"/>
            <a:ext cx="6558650" cy="1008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599" y="0"/>
            <a:ext cx="796880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